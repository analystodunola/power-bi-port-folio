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049" autoAdjust="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unola Adewale" userId="7ef063c1585960a9" providerId="LiveId" clId="{AA16EEE7-8F2E-4765-92B3-03608672FD8E}"/>
    <pc:docChg chg="custSel addSld modSld sldOrd">
      <pc:chgData name="Odunola Adewale" userId="7ef063c1585960a9" providerId="LiveId" clId="{AA16EEE7-8F2E-4765-92B3-03608672FD8E}" dt="2026-06-05T23:53:26.401" v="90"/>
      <pc:docMkLst>
        <pc:docMk/>
      </pc:docMkLst>
      <pc:sldChg chg="modSp mod">
        <pc:chgData name="Odunola Adewale" userId="7ef063c1585960a9" providerId="LiveId" clId="{AA16EEE7-8F2E-4765-92B3-03608672FD8E}" dt="2026-06-05T23:45:59.180" v="88" actId="1076"/>
        <pc:sldMkLst>
          <pc:docMk/>
          <pc:sldMk cId="711170686" sldId="257"/>
        </pc:sldMkLst>
        <pc:spChg chg="mod">
          <ac:chgData name="Odunola Adewale" userId="7ef063c1585960a9" providerId="LiveId" clId="{AA16EEE7-8F2E-4765-92B3-03608672FD8E}" dt="2026-06-05T23:45:59.180" v="88" actId="1076"/>
          <ac:spMkLst>
            <pc:docMk/>
            <pc:sldMk cId="711170686" sldId="257"/>
            <ac:spMk id="8" creationId="{C2F0B968-A859-4010-082E-9462F7B43DC6}"/>
          </ac:spMkLst>
        </pc:spChg>
      </pc:sldChg>
      <pc:sldChg chg="addSp delSp modSp new mod ord">
        <pc:chgData name="Odunola Adewale" userId="7ef063c1585960a9" providerId="LiveId" clId="{AA16EEE7-8F2E-4765-92B3-03608672FD8E}" dt="2026-06-05T23:53:26.401" v="90"/>
        <pc:sldMkLst>
          <pc:docMk/>
          <pc:sldMk cId="664791531" sldId="266"/>
        </pc:sldMkLst>
        <pc:spChg chg="mod">
          <ac:chgData name="Odunola Adewale" userId="7ef063c1585960a9" providerId="LiveId" clId="{AA16EEE7-8F2E-4765-92B3-03608672FD8E}" dt="2026-06-05T23:38:45.003" v="53" actId="14100"/>
          <ac:spMkLst>
            <pc:docMk/>
            <pc:sldMk cId="664791531" sldId="266"/>
            <ac:spMk id="2" creationId="{7A2BC4E7-D5FB-A7D3-ACF8-903E91637844}"/>
          </ac:spMkLst>
        </pc:spChg>
        <pc:spChg chg="del">
          <ac:chgData name="Odunola Adewale" userId="7ef063c1585960a9" providerId="LiveId" clId="{AA16EEE7-8F2E-4765-92B3-03608672FD8E}" dt="2026-06-05T23:36:23.581" v="39" actId="931"/>
          <ac:spMkLst>
            <pc:docMk/>
            <pc:sldMk cId="664791531" sldId="266"/>
            <ac:spMk id="3" creationId="{791C5366-D59D-B652-6E4A-5EB30AC58A53}"/>
          </ac:spMkLst>
        </pc:spChg>
        <pc:spChg chg="add del mod">
          <ac:chgData name="Odunola Adewale" userId="7ef063c1585960a9" providerId="LiveId" clId="{AA16EEE7-8F2E-4765-92B3-03608672FD8E}" dt="2026-06-05T23:37:57.841" v="43" actId="931"/>
          <ac:spMkLst>
            <pc:docMk/>
            <pc:sldMk cId="664791531" sldId="266"/>
            <ac:spMk id="7" creationId="{C67CD4E0-014C-920F-E61D-D30BB7D303D3}"/>
          </ac:spMkLst>
        </pc:spChg>
        <pc:spChg chg="add del mod">
          <ac:chgData name="Odunola Adewale" userId="7ef063c1585960a9" providerId="LiveId" clId="{AA16EEE7-8F2E-4765-92B3-03608672FD8E}" dt="2026-06-05T23:42:38.554" v="62" actId="931"/>
          <ac:spMkLst>
            <pc:docMk/>
            <pc:sldMk cId="664791531" sldId="266"/>
            <ac:spMk id="11" creationId="{D6489BB7-75D6-CA79-75C5-3EAADE2418DD}"/>
          </ac:spMkLst>
        </pc:spChg>
        <pc:spChg chg="add del mod">
          <ac:chgData name="Odunola Adewale" userId="7ef063c1585960a9" providerId="LiveId" clId="{AA16EEE7-8F2E-4765-92B3-03608672FD8E}" dt="2026-06-05T23:44:40.441" v="68" actId="931"/>
          <ac:spMkLst>
            <pc:docMk/>
            <pc:sldMk cId="664791531" sldId="266"/>
            <ac:spMk id="15" creationId="{C24B62E0-215B-D89B-D547-BC011A356CF8}"/>
          </ac:spMkLst>
        </pc:spChg>
        <pc:picChg chg="add del mod ord">
          <ac:chgData name="Odunola Adewale" userId="7ef063c1585960a9" providerId="LiveId" clId="{AA16EEE7-8F2E-4765-92B3-03608672FD8E}" dt="2026-06-05T23:37:43.105" v="42" actId="478"/>
          <ac:picMkLst>
            <pc:docMk/>
            <pc:sldMk cId="664791531" sldId="266"/>
            <ac:picMk id="5" creationId="{BDCB383C-EC05-C7E4-2C07-EB05C89B285F}"/>
          </ac:picMkLst>
        </pc:picChg>
        <pc:picChg chg="add del mod ord">
          <ac:chgData name="Odunola Adewale" userId="7ef063c1585960a9" providerId="LiveId" clId="{AA16EEE7-8F2E-4765-92B3-03608672FD8E}" dt="2026-06-05T23:42:23.213" v="61" actId="478"/>
          <ac:picMkLst>
            <pc:docMk/>
            <pc:sldMk cId="664791531" sldId="266"/>
            <ac:picMk id="9" creationId="{9AE600A6-5CAB-5B06-AF75-C27D9B727E83}"/>
          </ac:picMkLst>
        </pc:picChg>
        <pc:picChg chg="add del mod ord">
          <ac:chgData name="Odunola Adewale" userId="7ef063c1585960a9" providerId="LiveId" clId="{AA16EEE7-8F2E-4765-92B3-03608672FD8E}" dt="2026-06-05T23:44:28.402" v="67" actId="478"/>
          <ac:picMkLst>
            <pc:docMk/>
            <pc:sldMk cId="664791531" sldId="266"/>
            <ac:picMk id="13" creationId="{BCF407BD-1FD7-EC70-B7BA-1E56DBAE63A8}"/>
          </ac:picMkLst>
        </pc:picChg>
        <pc:picChg chg="add mod ord">
          <ac:chgData name="Odunola Adewale" userId="7ef063c1585960a9" providerId="LiveId" clId="{AA16EEE7-8F2E-4765-92B3-03608672FD8E}" dt="2026-06-05T23:44:54.109" v="87" actId="1036"/>
          <ac:picMkLst>
            <pc:docMk/>
            <pc:sldMk cId="664791531" sldId="266"/>
            <ac:picMk id="17" creationId="{A68B207A-022E-3D00-3543-8C5F16A2132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7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8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9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1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3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2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6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91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1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132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21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277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43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7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D84B4424-513C-4FE3-8BD6-E48747059AFA}" type="datetimeFigureOut">
              <a:rPr lang="en-US" smtClean="0"/>
              <a:t>26/06/05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E2AFBF0-E962-4B80-918B-5E3BAAF87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8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inkedin.com/in/odunola-adewale-52a4a8158" TargetMode="External"/><Relationship Id="rId2" Type="http://schemas.openxmlformats.org/officeDocument/2006/relationships/hyperlink" Target="https://github.com/AnalystOdunol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7A76-BB4E-635F-06B3-1EC78E89F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BANK MARKETING DATASET ANALYSIS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7A89C1-7473-69DE-EFBD-4AEC068C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335" y="4270631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Odunola Adewale</a:t>
            </a:r>
          </a:p>
          <a:p>
            <a:r>
              <a:rPr lang="en-US" sz="2000" dirty="0">
                <a:hlinkClick r:id="rId2"/>
              </a:rPr>
              <a:t>https://github.com/AnalystOdunola</a:t>
            </a:r>
            <a:endParaRPr lang="en-US" sz="2000" dirty="0"/>
          </a:p>
          <a:p>
            <a:r>
              <a:rPr lang="en-US" sz="2000" dirty="0">
                <a:hlinkClick r:id="rId3"/>
              </a:rPr>
              <a:t>http://linkedin.com/in/odunola-adewale-52a4a8158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69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8009E7-9BD4-E79E-44A2-2A5E21738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80189"/>
            <a:ext cx="10364451" cy="926819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0B968-A859-4010-082E-9462F7B43DC6}"/>
              </a:ext>
            </a:extLst>
          </p:cNvPr>
          <p:cNvSpPr txBox="1"/>
          <p:nvPr/>
        </p:nvSpPr>
        <p:spPr>
          <a:xfrm>
            <a:off x="423475" y="1997839"/>
            <a:ext cx="116413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cs typeface="Arial" panose="020B0604020202020204" pitchFamily="34" charset="0"/>
              </a:rPr>
              <a:t>The Business Challenge;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Bank runs term deposit campaigns but conversion is inconsistent across customer segments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Current average conversion rate: </a:t>
            </a:r>
            <a:r>
              <a:rPr lang="en-US" sz="2000" b="1" dirty="0">
                <a:cs typeface="Arial" panose="020B0604020202020204" pitchFamily="34" charset="0"/>
              </a:rPr>
              <a:t>47.4% </a:t>
            </a:r>
            <a:r>
              <a:rPr lang="en-US" sz="2000" dirty="0">
                <a:cs typeface="Arial" panose="020B0604020202020204" pitchFamily="34" charset="0"/>
              </a:rPr>
              <a:t>= </a:t>
            </a:r>
            <a:r>
              <a:rPr lang="en-US" sz="2000" b="1" dirty="0">
                <a:cs typeface="Arial" panose="020B0604020202020204" pitchFamily="34" charset="0"/>
              </a:rPr>
              <a:t>5K</a:t>
            </a:r>
            <a:r>
              <a:rPr lang="en-US" sz="2000" dirty="0">
                <a:cs typeface="Arial" panose="020B0604020202020204" pitchFamily="34" charset="0"/>
              </a:rPr>
              <a:t> Yes out of </a:t>
            </a:r>
            <a:r>
              <a:rPr lang="en-US" sz="2000" b="1" dirty="0">
                <a:cs typeface="Arial" panose="020B0604020202020204" pitchFamily="34" charset="0"/>
              </a:rPr>
              <a:t>11K </a:t>
            </a:r>
            <a:r>
              <a:rPr lang="en-US" sz="2000" dirty="0">
                <a:cs typeface="Arial" panose="020B0604020202020204" pitchFamily="34" charset="0"/>
              </a:rPr>
              <a:t>contacts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Wasted budget on low-performing segments + poor call timing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Core question: </a:t>
            </a:r>
            <a:r>
              <a:rPr lang="en-US" sz="2000" dirty="0">
                <a:cs typeface="Arial" panose="020B0604020202020204" pitchFamily="34" charset="0"/>
              </a:rPr>
              <a:t>Which customers, when, and how should we target to maximize subscriptions and ROI?</a:t>
            </a:r>
          </a:p>
        </p:txBody>
      </p:sp>
    </p:spTree>
    <p:extLst>
      <p:ext uri="{BB962C8B-B14F-4D97-AF65-F5344CB8AC3E}">
        <p14:creationId xmlns:p14="http://schemas.microsoft.com/office/powerpoint/2010/main" val="71117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10FB-DE7F-11D8-A1E9-E9C27246C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99061"/>
            <a:ext cx="10364451" cy="652499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E823F-B724-3F75-FB02-07D0AF2F2050}"/>
              </a:ext>
            </a:extLst>
          </p:cNvPr>
          <p:cNvSpPr txBox="1"/>
          <p:nvPr/>
        </p:nvSpPr>
        <p:spPr>
          <a:xfrm>
            <a:off x="182880" y="1307592"/>
            <a:ext cx="11859767" cy="5274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cs typeface="Arial" panose="020B0604020202020204" pitchFamily="34" charset="0"/>
              </a:rPr>
              <a:t>Dataset: Bank Marketing Campaign Dataset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Total Customers: </a:t>
            </a:r>
            <a:r>
              <a:rPr lang="en-US" sz="2000" b="1" dirty="0">
                <a:cs typeface="Arial" panose="020B0604020202020204" pitchFamily="34" charset="0"/>
              </a:rPr>
              <a:t>11K+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Total Subscribers: </a:t>
            </a:r>
            <a:r>
              <a:rPr lang="en-US" sz="2000" b="1" dirty="0">
                <a:cs typeface="Arial" panose="020B0604020202020204" pitchFamily="34" charset="0"/>
              </a:rPr>
              <a:t>5K+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Conversion Rate: </a:t>
            </a:r>
            <a:r>
              <a:rPr lang="en-US" sz="2000" b="1" dirty="0">
                <a:cs typeface="Arial" panose="020B0604020202020204" pitchFamily="34" charset="0"/>
              </a:rPr>
              <a:t>47.4%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Average Balance: </a:t>
            </a:r>
            <a:r>
              <a:rPr lang="en-US" sz="2000" b="1" dirty="0">
                <a:cs typeface="Arial" panose="020B0604020202020204" pitchFamily="34" charset="0"/>
              </a:rPr>
              <a:t>1.53K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Average Call Duration: </a:t>
            </a:r>
            <a:r>
              <a:rPr lang="en-US" sz="2000" b="1" dirty="0">
                <a:cs typeface="Arial" panose="020B0604020202020204" pitchFamily="34" charset="0"/>
              </a:rPr>
              <a:t>372 Seconds</a:t>
            </a:r>
          </a:p>
          <a:p>
            <a:pPr>
              <a:buNone/>
            </a:pPr>
            <a:endParaRPr lang="en-US" sz="2000" b="1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cs typeface="Arial" panose="020B0604020202020204" pitchFamily="34" charset="0"/>
              </a:rPr>
              <a:t>Key Variables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Customer Demographics (Age, Job, Education, Marital Status)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Financial Information (Balance, Housing Loan)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Campaign Information (Call Duration, Contact Type, Previous Campaign Outcome)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Deposit Subscription Status (Yes/No)</a:t>
            </a:r>
          </a:p>
        </p:txBody>
      </p:sp>
    </p:spTree>
    <p:extLst>
      <p:ext uri="{BB962C8B-B14F-4D97-AF65-F5344CB8AC3E}">
        <p14:creationId xmlns:p14="http://schemas.microsoft.com/office/powerpoint/2010/main" val="233012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87FDC-482F-9269-A001-8CF481BEF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548005"/>
            <a:ext cx="10515600" cy="855395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KEY VISUALIZATIONS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C26958-D31D-F706-A5A2-7667CCCD62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60" y="1510380"/>
            <a:ext cx="11859768" cy="475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KPI Cards: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Conversion Rate, Average Balance, Average Call Duration, Total Customers and Total Subscribers. These provides an executive-level overview of campaign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Bar Charts: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Conversion Rate by Job, Balance Segment, and Previous Campaign Outcome. These are used to identify high-performing customer segments and the factors most associated with successful subscriptions.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Donut Chart: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Conversion Rate by Duration Bucket (Long vs Short Calls). These highlights the impact of customer engagement and conversation length on conversion success.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9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13C830-0CDE-962C-99DC-4D86C760D64A}"/>
              </a:ext>
            </a:extLst>
          </p:cNvPr>
          <p:cNvSpPr txBox="1"/>
          <p:nvPr/>
        </p:nvSpPr>
        <p:spPr>
          <a:xfrm>
            <a:off x="210313" y="1113472"/>
            <a:ext cx="11844036" cy="512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Line Chart:</a:t>
            </a:r>
            <a:r>
              <a:rPr lang="en-US" altLang="en-US" sz="2000" dirty="0"/>
              <a:t> Monthly Conversion Rate Trend. This is used to uncover seasonal patterns and identify periods of high and low campaign performance</a:t>
            </a:r>
            <a:endParaRPr lang="en-US" altLang="en-US" sz="2000" b="1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b="1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/>
              <a:t>Matrix Heatmap:</a:t>
            </a:r>
            <a:r>
              <a:rPr lang="en-US" altLang="en-US" sz="2000" dirty="0"/>
              <a:t> Education × Marital Status × Loan Analysis. This provides a multi-dimensional view of customer segments and how demographic and financial characteristics influence conversion rates. 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Slicers: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Age Group, Housing Loan Status, and Contact Method . They enable interactive filtering and deeper exploration of campaign performance across different customer demographics and communication channels.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combination of visuals provides both a high-level performance overview and a detailed analysis of the demographic, financial, behavioral, and campaign factors influencing deposit subscriptions.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FB56CD-6D4B-6D38-345E-6C8433848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105" y="169219"/>
            <a:ext cx="10364451" cy="862811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KEY VISUALIZATIONS CONTD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349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BC4E7-D5FB-A7D3-ACF8-903E9163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46888"/>
            <a:ext cx="10364451" cy="850392"/>
          </a:xfrm>
        </p:spPr>
        <p:txBody>
          <a:bodyPr/>
          <a:lstStyle/>
          <a:p>
            <a:r>
              <a:rPr lang="en-US" dirty="0"/>
              <a:t>DASHBOARD SCREENSHOT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68B207A-022E-3D00-3543-8C5F16A2132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11" y="1270081"/>
            <a:ext cx="10364451" cy="487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9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B70C-3E5C-62D8-21F0-73BB357B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27" y="280190"/>
            <a:ext cx="10364451" cy="966282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MAJOR FINDINGS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079DF-8510-014B-58F5-58CCEC28E01A}"/>
              </a:ext>
            </a:extLst>
          </p:cNvPr>
          <p:cNvSpPr txBox="1"/>
          <p:nvPr/>
        </p:nvSpPr>
        <p:spPr>
          <a:xfrm>
            <a:off x="205887" y="1305341"/>
            <a:ext cx="1192652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cs typeface="Arial" panose="020B0604020202020204" pitchFamily="34" charset="0"/>
              </a:rPr>
              <a:t>Segment Performance Gap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Students: </a:t>
            </a:r>
            <a:r>
              <a:rPr lang="en-US" sz="2000" b="1" dirty="0">
                <a:cs typeface="Arial" panose="020B0604020202020204" pitchFamily="34" charset="0"/>
              </a:rPr>
              <a:t>74.7% </a:t>
            </a:r>
            <a:r>
              <a:rPr lang="en-US" sz="2000" dirty="0">
                <a:cs typeface="Arial" panose="020B0604020202020204" pitchFamily="34" charset="0"/>
              </a:rPr>
              <a:t>conversion &amp; Retired: </a:t>
            </a:r>
            <a:r>
              <a:rPr lang="en-US" sz="2000" b="1" dirty="0">
                <a:cs typeface="Arial" panose="020B0604020202020204" pitchFamily="34" charset="0"/>
              </a:rPr>
              <a:t>66.3%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Blue-Collar: </a:t>
            </a:r>
            <a:r>
              <a:rPr lang="en-US" sz="2000" b="1" dirty="0">
                <a:cs typeface="Arial" panose="020B0604020202020204" pitchFamily="34" charset="0"/>
              </a:rPr>
              <a:t>36.4% </a:t>
            </a:r>
            <a:r>
              <a:rPr lang="en-US" sz="2000" dirty="0">
                <a:cs typeface="Arial" panose="020B0604020202020204" pitchFamily="34" charset="0"/>
              </a:rPr>
              <a:t>conversion 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Gap: </a:t>
            </a:r>
            <a:r>
              <a:rPr lang="en-US" sz="2000" b="1" dirty="0">
                <a:cs typeface="Arial" panose="020B0604020202020204" pitchFamily="34" charset="0"/>
              </a:rPr>
              <a:t>38.3%</a:t>
            </a:r>
            <a:r>
              <a:rPr lang="en-US" sz="2000" dirty="0">
                <a:cs typeface="Arial" panose="020B0604020202020204" pitchFamily="34" charset="0"/>
              </a:rPr>
              <a:t> between best vs worst job segment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>
                <a:cs typeface="Arial" panose="020B0604020202020204" pitchFamily="34" charset="0"/>
              </a:rPr>
              <a:t>2</a:t>
            </a:r>
            <a:r>
              <a:rPr lang="en-US" sz="2000" dirty="0">
                <a:cs typeface="Arial" panose="020B0604020202020204" pitchFamily="34" charset="0"/>
              </a:rPr>
              <a:t>. </a:t>
            </a:r>
            <a:r>
              <a:rPr lang="en-US" sz="2000" b="1" dirty="0">
                <a:cs typeface="Arial" panose="020B0604020202020204" pitchFamily="34" charset="0"/>
              </a:rPr>
              <a:t>Timing Is Everything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Peak months: </a:t>
            </a:r>
            <a:r>
              <a:rPr lang="en-US" sz="2000" b="1" dirty="0">
                <a:cs typeface="Arial" panose="020B0604020202020204" pitchFamily="34" charset="0"/>
              </a:rPr>
              <a:t>Mar 89.9%, Dec 90.9%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Low months: </a:t>
            </a:r>
            <a:r>
              <a:rPr lang="en-US" sz="2000" b="1" dirty="0">
                <a:cs typeface="Arial" panose="020B0604020202020204" pitchFamily="34" charset="0"/>
              </a:rPr>
              <a:t>May 32.8%, Nov 42.7%</a:t>
            </a:r>
          </a:p>
          <a:p>
            <a:endParaRPr lang="en-US" sz="2000" dirty="0"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2.7x</a:t>
            </a:r>
            <a:r>
              <a:rPr lang="en-US" sz="2000" dirty="0">
                <a:cs typeface="Arial" panose="020B0604020202020204" pitchFamily="34" charset="0"/>
              </a:rPr>
              <a:t> difference based on month alone</a:t>
            </a:r>
          </a:p>
        </p:txBody>
      </p:sp>
    </p:spTree>
    <p:extLst>
      <p:ext uri="{BB962C8B-B14F-4D97-AF65-F5344CB8AC3E}">
        <p14:creationId xmlns:p14="http://schemas.microsoft.com/office/powerpoint/2010/main" val="2107072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92C93-00ED-AA20-CA32-BE4D8BEF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444"/>
            <a:ext cx="10515600" cy="66380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rial" panose="020B0604020202020204" pitchFamily="34" charset="0"/>
              </a:rPr>
              <a:t>MAJOR FINDINGS CONTD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BF87D-590E-6192-7F39-9BAE8FC1FBF3}"/>
              </a:ext>
            </a:extLst>
          </p:cNvPr>
          <p:cNvSpPr txBox="1"/>
          <p:nvPr/>
        </p:nvSpPr>
        <p:spPr>
          <a:xfrm>
            <a:off x="245806" y="806246"/>
            <a:ext cx="1172988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</a:t>
            </a:r>
            <a:r>
              <a:rPr lang="en-US" sz="2000" b="1" dirty="0">
                <a:cs typeface="Arial" panose="020B0604020202020204" pitchFamily="34" charset="0"/>
              </a:rPr>
              <a:t>. </a:t>
            </a:r>
            <a:r>
              <a:rPr lang="en-US" b="1" dirty="0">
                <a:cs typeface="Arial" panose="020B0604020202020204" pitchFamily="34" charset="0"/>
              </a:rPr>
              <a:t>History Predicts Future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Previous Success: </a:t>
            </a:r>
            <a:r>
              <a:rPr lang="en-US" b="1" dirty="0">
                <a:cs typeface="Arial" panose="020B0604020202020204" pitchFamily="34" charset="0"/>
              </a:rPr>
              <a:t>91.3% </a:t>
            </a:r>
            <a:r>
              <a:rPr lang="en-US" dirty="0">
                <a:cs typeface="Arial" panose="020B0604020202020204" pitchFamily="34" charset="0"/>
              </a:rPr>
              <a:t>conversion 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Unknown history: </a:t>
            </a:r>
            <a:r>
              <a:rPr lang="en-US" b="1" dirty="0">
                <a:cs typeface="Arial" panose="020B0604020202020204" pitchFamily="34" charset="0"/>
              </a:rPr>
              <a:t>40.7% </a:t>
            </a:r>
            <a:r>
              <a:rPr lang="en-US" dirty="0">
                <a:cs typeface="Arial" panose="020B0604020202020204" pitchFamily="34" charset="0"/>
              </a:rPr>
              <a:t>conversion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Retargeting past converters = highest ROI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b="1" dirty="0">
                <a:cs typeface="Arial" panose="020B0604020202020204" pitchFamily="34" charset="0"/>
              </a:rPr>
              <a:t>4. Call Duration Drives Results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Long calls </a:t>
            </a:r>
            <a:r>
              <a:rPr lang="en-US" b="1" dirty="0">
                <a:cs typeface="Arial" panose="020B0604020202020204" pitchFamily="34" charset="0"/>
              </a:rPr>
              <a:t>&gt;31.6min: 77.4% </a:t>
            </a:r>
            <a:r>
              <a:rPr lang="en-US" dirty="0">
                <a:cs typeface="Arial" panose="020B0604020202020204" pitchFamily="34" charset="0"/>
              </a:rPr>
              <a:t>of conversions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Short calls </a:t>
            </a:r>
            <a:r>
              <a:rPr lang="en-US" b="1" dirty="0">
                <a:cs typeface="Arial" panose="020B0604020202020204" pitchFamily="34" charset="0"/>
              </a:rPr>
              <a:t>&lt;31.6min: 22.6% </a:t>
            </a:r>
            <a:r>
              <a:rPr lang="en-US" dirty="0">
                <a:cs typeface="Arial" panose="020B0604020202020204" pitchFamily="34" charset="0"/>
              </a:rPr>
              <a:t>of conversions</a:t>
            </a:r>
          </a:p>
          <a:p>
            <a:endParaRPr lang="en-US" b="1" dirty="0">
              <a:cs typeface="Arial" panose="020B0604020202020204" pitchFamily="34" charset="0"/>
            </a:endParaRPr>
          </a:p>
          <a:p>
            <a:r>
              <a:rPr lang="en-US" b="1" dirty="0">
                <a:cs typeface="Arial" panose="020B0604020202020204" pitchFamily="34" charset="0"/>
              </a:rPr>
              <a:t>5. Financial Capacity  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High-balance customers: </a:t>
            </a:r>
            <a:r>
              <a:rPr lang="en-US" b="1" dirty="0">
                <a:cs typeface="Arial" panose="020B0604020202020204" pitchFamily="34" charset="0"/>
              </a:rPr>
              <a:t>57.2% </a:t>
            </a:r>
            <a:r>
              <a:rPr lang="en-US" dirty="0">
                <a:cs typeface="Arial" panose="020B0604020202020204" pitchFamily="34" charset="0"/>
              </a:rPr>
              <a:t>conversion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Negative-balance customers: </a:t>
            </a:r>
            <a:r>
              <a:rPr lang="en-US" b="1" dirty="0">
                <a:cs typeface="Arial" panose="020B0604020202020204" pitchFamily="34" charset="0"/>
              </a:rPr>
              <a:t>30.5% </a:t>
            </a:r>
            <a:r>
              <a:rPr lang="en-US" dirty="0">
                <a:cs typeface="Arial" panose="020B0604020202020204" pitchFamily="34" charset="0"/>
              </a:rPr>
              <a:t>conversion  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Arial" panose="020B0604020202020204" pitchFamily="34" charset="0"/>
              </a:rPr>
              <a:t>Customers with stronger financial profiles are more likely to subscribe</a:t>
            </a:r>
          </a:p>
        </p:txBody>
      </p:sp>
    </p:spTree>
    <p:extLst>
      <p:ext uri="{BB962C8B-B14F-4D97-AF65-F5344CB8AC3E}">
        <p14:creationId xmlns:p14="http://schemas.microsoft.com/office/powerpoint/2010/main" val="260297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45E0-BFFF-2780-42FD-44636BD9C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25"/>
            <a:ext cx="10515600" cy="922901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089D5-F2DA-8059-85E2-93753C22A7D8}"/>
              </a:ext>
            </a:extLst>
          </p:cNvPr>
          <p:cNvSpPr txBox="1"/>
          <p:nvPr/>
        </p:nvSpPr>
        <p:spPr>
          <a:xfrm>
            <a:off x="138684" y="1294614"/>
            <a:ext cx="11914632" cy="518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u="sng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Target High-Converting Segments: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Reallocate campaign resources toward Students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(74.7%)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and Retired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customers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(66.3%)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while reducing spend on lower-performing groups such as Blue-Collar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(36.4%)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and Entrepreneurs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(37.5%)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 A more targeted approach is likely to improve overall campaign efficiency and conversion rates.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cs typeface="Arial" panose="020B0604020202020204" pitchFamily="34" charset="0"/>
              </a:rPr>
              <a:t>Improve Call Quality:</a:t>
            </a:r>
            <a:r>
              <a:rPr lang="en-US" sz="2000" dirty="0">
                <a:cs typeface="Arial" panose="020B0604020202020204" pitchFamily="34" charset="0"/>
              </a:rPr>
              <a:t> Since long calls generate </a:t>
            </a:r>
            <a:r>
              <a:rPr lang="en-US" sz="2000" b="1" dirty="0">
                <a:cs typeface="Arial" panose="020B0604020202020204" pitchFamily="34" charset="0"/>
              </a:rPr>
              <a:t>77.4% of conversions</a:t>
            </a:r>
            <a:r>
              <a:rPr lang="en-US" sz="2000" dirty="0">
                <a:cs typeface="Arial" panose="020B0604020202020204" pitchFamily="34" charset="0"/>
              </a:rPr>
              <a:t>, focus on agent training, customer engagement techniques, and consultative selling. Prioritize meaningful conversations over high call volumes. </a:t>
            </a:r>
          </a:p>
          <a:p>
            <a:pPr lvl="0">
              <a:lnSpc>
                <a:spcPct val="150000"/>
              </a:lnSpc>
            </a:pPr>
            <a:endParaRPr lang="en-US" sz="2000" dirty="0"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cs typeface="Arial" panose="020B0604020202020204" pitchFamily="34" charset="0"/>
              </a:rPr>
              <a:t>Optimize Campaign Timing:</a:t>
            </a:r>
            <a:r>
              <a:rPr lang="en-US" sz="2000" dirty="0">
                <a:cs typeface="Arial" panose="020B0604020202020204" pitchFamily="34" charset="0"/>
              </a:rPr>
              <a:t> Increase campaign activity during high-performing months such as </a:t>
            </a:r>
            <a:r>
              <a:rPr lang="en-US" sz="2000" b="1" dirty="0">
                <a:cs typeface="Arial" panose="020B0604020202020204" pitchFamily="34" charset="0"/>
              </a:rPr>
              <a:t>March (89.9%)</a:t>
            </a:r>
            <a:r>
              <a:rPr lang="en-US" sz="2000" dirty="0">
                <a:cs typeface="Arial" panose="020B0604020202020204" pitchFamily="34" charset="0"/>
              </a:rPr>
              <a:t> and </a:t>
            </a:r>
            <a:r>
              <a:rPr lang="en-US" sz="2000" b="1" dirty="0">
                <a:cs typeface="Arial" panose="020B0604020202020204" pitchFamily="34" charset="0"/>
              </a:rPr>
              <a:t>December (90.9%)</a:t>
            </a:r>
            <a:r>
              <a:rPr lang="en-US" sz="2000" dirty="0">
                <a:cs typeface="Arial" panose="020B0604020202020204" pitchFamily="34" charset="0"/>
              </a:rPr>
              <a:t>, and reduce marketing spend during lower-performing periods like </a:t>
            </a:r>
            <a:r>
              <a:rPr lang="en-US" sz="2000" b="1" dirty="0">
                <a:cs typeface="Arial" panose="020B0604020202020204" pitchFamily="34" charset="0"/>
              </a:rPr>
              <a:t>May (32.8%)</a:t>
            </a:r>
            <a:r>
              <a:rPr lang="en-US" sz="2000" dirty="0">
                <a:cs typeface="Arial" panose="020B0604020202020204" pitchFamily="34" charset="0"/>
              </a:rPr>
              <a:t> and </a:t>
            </a:r>
            <a:r>
              <a:rPr lang="en-US" sz="2000" b="1" dirty="0">
                <a:cs typeface="Arial" panose="020B0604020202020204" pitchFamily="34" charset="0"/>
              </a:rPr>
              <a:t>November (42.7%)</a:t>
            </a:r>
            <a:r>
              <a:rPr lang="en-US" sz="2000" dirty="0">
                <a:cs typeface="Arial" panose="020B0604020202020204" pitchFamily="34" charset="0"/>
              </a:rPr>
              <a:t> to maximize ROI. </a:t>
            </a:r>
            <a:endParaRPr lang="en-US" sz="20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69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4388-5229-923D-3E3E-18BA325D7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164563"/>
          </a:xfrm>
        </p:spPr>
        <p:txBody>
          <a:bodyPr/>
          <a:lstStyle/>
          <a:p>
            <a:pPr algn="ctr"/>
            <a:r>
              <a:rPr lang="en-US" dirty="0"/>
              <a:t>RECOMMENDATION CONTD.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E7C148-CC9C-0FE7-DA6A-0084A3FD92B9}"/>
              </a:ext>
            </a:extLst>
          </p:cNvPr>
          <p:cNvSpPr txBox="1"/>
          <p:nvPr/>
        </p:nvSpPr>
        <p:spPr>
          <a:xfrm>
            <a:off x="320040" y="2093976"/>
            <a:ext cx="11558016" cy="327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cs typeface="Arial" panose="020B0604020202020204" pitchFamily="34" charset="0"/>
              </a:rPr>
              <a:t>Implement a Retargeting Strategy:</a:t>
            </a:r>
            <a:r>
              <a:rPr lang="en-US" sz="2000" dirty="0">
                <a:cs typeface="Arial" panose="020B0604020202020204" pitchFamily="34" charset="0"/>
              </a:rPr>
              <a:t> Create a dedicated campaign for customers with a previous successful outcome</a:t>
            </a:r>
            <a:r>
              <a:rPr lang="en-US" sz="2000" b="1" dirty="0">
                <a:cs typeface="Arial" panose="020B0604020202020204" pitchFamily="34" charset="0"/>
              </a:rPr>
              <a:t> (91.3% </a:t>
            </a:r>
            <a:r>
              <a:rPr lang="en-US" sz="2000" dirty="0">
                <a:cs typeface="Arial" panose="020B0604020202020204" pitchFamily="34" charset="0"/>
              </a:rPr>
              <a:t>conversion rate</a:t>
            </a:r>
            <a:r>
              <a:rPr lang="en-US" sz="2000" b="1" dirty="0">
                <a:cs typeface="Arial" panose="020B0604020202020204" pitchFamily="34" charset="0"/>
              </a:rPr>
              <a:t>)</a:t>
            </a:r>
            <a:r>
              <a:rPr lang="en-US" sz="2000" dirty="0">
                <a:cs typeface="Arial" panose="020B0604020202020204" pitchFamily="34" charset="0"/>
              </a:rPr>
              <a:t>. These customers represent the highest-probability segment and should be prioritized before acquiring new leads.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u="sng" dirty="0"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u="sng" dirty="0">
                <a:cs typeface="Arial" panose="020B0604020202020204" pitchFamily="34" charset="0"/>
              </a:rPr>
              <a:t>Adopt Lead Scoring:</a:t>
            </a:r>
            <a:r>
              <a:rPr lang="en-US" sz="2000" dirty="0">
                <a:cs typeface="Arial" panose="020B0604020202020204" pitchFamily="34" charset="0"/>
              </a:rPr>
              <a:t> Use factors such as </a:t>
            </a:r>
            <a:r>
              <a:rPr lang="en-US" sz="2000" b="1" dirty="0">
                <a:cs typeface="Arial" panose="020B0604020202020204" pitchFamily="34" charset="0"/>
              </a:rPr>
              <a:t>account balance, previous campaign outcome, occupation, and loan status</a:t>
            </a:r>
            <a:r>
              <a:rPr lang="en-US" sz="2000" dirty="0">
                <a:cs typeface="Arial" panose="020B0604020202020204" pitchFamily="34" charset="0"/>
              </a:rPr>
              <a:t> to rank prospects. Prioritizing high-balance and historically responsive customers can improve conversion rates and reduce acquisition costs. </a:t>
            </a:r>
          </a:p>
        </p:txBody>
      </p:sp>
    </p:spTree>
    <p:extLst>
      <p:ext uri="{BB962C8B-B14F-4D97-AF65-F5344CB8AC3E}">
        <p14:creationId xmlns:p14="http://schemas.microsoft.com/office/powerpoint/2010/main" val="663075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D1DD-7F97-8090-356B-558F9BA2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35379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18D03-2B6A-9F76-61D3-68001F7BFD25}"/>
              </a:ext>
            </a:extLst>
          </p:cNvPr>
          <p:cNvSpPr txBox="1"/>
          <p:nvPr/>
        </p:nvSpPr>
        <p:spPr>
          <a:xfrm>
            <a:off x="155448" y="1800416"/>
            <a:ext cx="11932920" cy="1887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analysis proves conversion is driven by who you call, when you call, and their past behavior. It’s not just how many you call. By focusing on Students/Retired segments, optimizing for 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Mar./Dec.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timing and retargeting previous Success customers, the bank can lift conversion from 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47.4%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to </a:t>
            </a:r>
            <a:r>
              <a:rPr lang="en-US" sz="2000" b="1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55%+</a:t>
            </a: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while reducing campaign costs. These data-driven actions provide immediate ROI improvement for the next campaign cycle</a:t>
            </a:r>
            <a:r>
              <a:rPr lang="en-US" sz="20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32749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174</TotalTime>
  <Words>794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Tw Cen MT</vt:lpstr>
      <vt:lpstr>Droplet</vt:lpstr>
      <vt:lpstr>BANK MARKETING DATASET ANALYSIS REPORT</vt:lpstr>
      <vt:lpstr>PROBLEM STATEMENT</vt:lpstr>
      <vt:lpstr>DATASET OVERVIEW</vt:lpstr>
      <vt:lpstr>KEY VISUALIZATIONS</vt:lpstr>
      <vt:lpstr>KEY VISUALIZATIONS CONTD.</vt:lpstr>
      <vt:lpstr>DASHBOARD SCREENSHOT</vt:lpstr>
      <vt:lpstr>MAJOR FINDINGS</vt:lpstr>
      <vt:lpstr>MAJOR FINDINGS CONTD.</vt:lpstr>
      <vt:lpstr>RECOMMENDATIONS</vt:lpstr>
      <vt:lpstr>RECOMMENDATION CONTD.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Odunola Adewale</dc:creator>
  <cp:lastModifiedBy>Odunola Adewale</cp:lastModifiedBy>
  <cp:revision>1</cp:revision>
  <dcterms:created xsi:type="dcterms:W3CDTF">2026-06-05T21:00:52Z</dcterms:created>
  <dcterms:modified xsi:type="dcterms:W3CDTF">2026-06-05T23:54:56Z</dcterms:modified>
</cp:coreProperties>
</file>