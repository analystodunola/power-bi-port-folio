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4" r:id="rId9"/>
    <p:sldId id="263"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dunola Adewale" userId="7ef063c1585960a9" providerId="LiveId" clId="{AA16EEE7-8F2E-4765-92B3-03608672FD8E}"/>
    <pc:docChg chg="undo custSel modSld">
      <pc:chgData name="Odunola Adewale" userId="7ef063c1585960a9" providerId="LiveId" clId="{AA16EEE7-8F2E-4765-92B3-03608672FD8E}" dt="2026-05-29T17:31:19.055" v="65" actId="1076"/>
      <pc:docMkLst>
        <pc:docMk/>
      </pc:docMkLst>
      <pc:sldChg chg="modSp mod">
        <pc:chgData name="Odunola Adewale" userId="7ef063c1585960a9" providerId="LiveId" clId="{AA16EEE7-8F2E-4765-92B3-03608672FD8E}" dt="2026-05-27T18:00:01.397" v="57" actId="20577"/>
        <pc:sldMkLst>
          <pc:docMk/>
          <pc:sldMk cId="4171268846" sldId="256"/>
        </pc:sldMkLst>
        <pc:spChg chg="mod">
          <ac:chgData name="Odunola Adewale" userId="7ef063c1585960a9" providerId="LiveId" clId="{AA16EEE7-8F2E-4765-92B3-03608672FD8E}" dt="2026-05-27T17:59:37.132" v="38" actId="207"/>
          <ac:spMkLst>
            <pc:docMk/>
            <pc:sldMk cId="4171268846" sldId="256"/>
            <ac:spMk id="2" creationId="{EC8AC5A2-B101-B17A-DF1B-29C7A548BC2A}"/>
          </ac:spMkLst>
        </pc:spChg>
        <pc:spChg chg="mod">
          <ac:chgData name="Odunola Adewale" userId="7ef063c1585960a9" providerId="LiveId" clId="{AA16EEE7-8F2E-4765-92B3-03608672FD8E}" dt="2026-05-27T18:00:01.397" v="57" actId="20577"/>
          <ac:spMkLst>
            <pc:docMk/>
            <pc:sldMk cId="4171268846" sldId="256"/>
            <ac:spMk id="3" creationId="{691E71E9-6E49-9FB9-02A0-261EA29F6B09}"/>
          </ac:spMkLst>
        </pc:spChg>
      </pc:sldChg>
      <pc:sldChg chg="modSp mod">
        <pc:chgData name="Odunola Adewale" userId="7ef063c1585960a9" providerId="LiveId" clId="{AA16EEE7-8F2E-4765-92B3-03608672FD8E}" dt="2026-05-27T17:59:22.446" v="37" actId="255"/>
        <pc:sldMkLst>
          <pc:docMk/>
          <pc:sldMk cId="2589922370" sldId="257"/>
        </pc:sldMkLst>
        <pc:spChg chg="mod">
          <ac:chgData name="Odunola Adewale" userId="7ef063c1585960a9" providerId="LiveId" clId="{AA16EEE7-8F2E-4765-92B3-03608672FD8E}" dt="2026-05-27T17:54:09.083" v="12" actId="207"/>
          <ac:spMkLst>
            <pc:docMk/>
            <pc:sldMk cId="2589922370" sldId="257"/>
            <ac:spMk id="2" creationId="{889FA2DC-968A-9F28-B314-B702A0176B39}"/>
          </ac:spMkLst>
        </pc:spChg>
        <pc:spChg chg="mod">
          <ac:chgData name="Odunola Adewale" userId="7ef063c1585960a9" providerId="LiveId" clId="{AA16EEE7-8F2E-4765-92B3-03608672FD8E}" dt="2026-05-27T17:59:22.446" v="37" actId="255"/>
          <ac:spMkLst>
            <pc:docMk/>
            <pc:sldMk cId="2589922370" sldId="257"/>
            <ac:spMk id="4" creationId="{57E84EB8-0D3B-A4D4-959D-72E3892D2659}"/>
          </ac:spMkLst>
        </pc:spChg>
      </pc:sldChg>
      <pc:sldChg chg="modSp mod">
        <pc:chgData name="Odunola Adewale" userId="7ef063c1585960a9" providerId="LiveId" clId="{AA16EEE7-8F2E-4765-92B3-03608672FD8E}" dt="2026-05-27T17:59:02.519" v="36" actId="255"/>
        <pc:sldMkLst>
          <pc:docMk/>
          <pc:sldMk cId="18983259" sldId="258"/>
        </pc:sldMkLst>
        <pc:spChg chg="mod">
          <ac:chgData name="Odunola Adewale" userId="7ef063c1585960a9" providerId="LiveId" clId="{AA16EEE7-8F2E-4765-92B3-03608672FD8E}" dt="2026-05-27T17:54:41.721" v="16" actId="207"/>
          <ac:spMkLst>
            <pc:docMk/>
            <pc:sldMk cId="18983259" sldId="258"/>
            <ac:spMk id="2" creationId="{87D5EFDE-8F86-B0C5-F915-51B1CAF73426}"/>
          </ac:spMkLst>
        </pc:spChg>
        <pc:spChg chg="mod">
          <ac:chgData name="Odunola Adewale" userId="7ef063c1585960a9" providerId="LiveId" clId="{AA16EEE7-8F2E-4765-92B3-03608672FD8E}" dt="2026-05-27T17:59:02.519" v="36" actId="255"/>
          <ac:spMkLst>
            <pc:docMk/>
            <pc:sldMk cId="18983259" sldId="258"/>
            <ac:spMk id="4" creationId="{F884DA94-2BD5-F5AC-80F6-634839228318}"/>
          </ac:spMkLst>
        </pc:spChg>
      </pc:sldChg>
      <pc:sldChg chg="modSp mod">
        <pc:chgData name="Odunola Adewale" userId="7ef063c1585960a9" providerId="LiveId" clId="{AA16EEE7-8F2E-4765-92B3-03608672FD8E}" dt="2026-05-27T17:55:02.432" v="17" actId="207"/>
        <pc:sldMkLst>
          <pc:docMk/>
          <pc:sldMk cId="2431218393" sldId="259"/>
        </pc:sldMkLst>
        <pc:spChg chg="mod">
          <ac:chgData name="Odunola Adewale" userId="7ef063c1585960a9" providerId="LiveId" clId="{AA16EEE7-8F2E-4765-92B3-03608672FD8E}" dt="2026-05-27T17:55:02.432" v="17" actId="207"/>
          <ac:spMkLst>
            <pc:docMk/>
            <pc:sldMk cId="2431218393" sldId="259"/>
            <ac:spMk id="2" creationId="{D5F2FA0E-7B24-54F8-4D61-75F7A70D5A54}"/>
          </ac:spMkLst>
        </pc:spChg>
      </pc:sldChg>
      <pc:sldChg chg="addSp delSp modSp mod">
        <pc:chgData name="Odunola Adewale" userId="7ef063c1585960a9" providerId="LiveId" clId="{AA16EEE7-8F2E-4765-92B3-03608672FD8E}" dt="2026-05-29T17:31:19.055" v="65" actId="1076"/>
        <pc:sldMkLst>
          <pc:docMk/>
          <pc:sldMk cId="1895434571" sldId="260"/>
        </pc:sldMkLst>
        <pc:spChg chg="mod">
          <ac:chgData name="Odunola Adewale" userId="7ef063c1585960a9" providerId="LiveId" clId="{AA16EEE7-8F2E-4765-92B3-03608672FD8E}" dt="2026-05-29T17:31:09.285" v="63" actId="1076"/>
          <ac:spMkLst>
            <pc:docMk/>
            <pc:sldMk cId="1895434571" sldId="260"/>
            <ac:spMk id="2" creationId="{742AF185-62B6-5CFE-B558-04E0E4B8B392}"/>
          </ac:spMkLst>
        </pc:spChg>
        <pc:spChg chg="add del mod">
          <ac:chgData name="Odunola Adewale" userId="7ef063c1585960a9" providerId="LiveId" clId="{AA16EEE7-8F2E-4765-92B3-03608672FD8E}" dt="2026-05-29T17:30:49.813" v="59" actId="931"/>
          <ac:spMkLst>
            <pc:docMk/>
            <pc:sldMk cId="1895434571" sldId="260"/>
            <ac:spMk id="4" creationId="{9EA4F92D-130B-08DD-D6F0-5F62E007D071}"/>
          </ac:spMkLst>
        </pc:spChg>
        <pc:picChg chg="del mod">
          <ac:chgData name="Odunola Adewale" userId="7ef063c1585960a9" providerId="LiveId" clId="{AA16EEE7-8F2E-4765-92B3-03608672FD8E}" dt="2026-05-29T17:30:38.104" v="58" actId="478"/>
          <ac:picMkLst>
            <pc:docMk/>
            <pc:sldMk cId="1895434571" sldId="260"/>
            <ac:picMk id="5" creationId="{310FE2A6-6061-79AF-43AF-6CAACF086497}"/>
          </ac:picMkLst>
        </pc:picChg>
        <pc:picChg chg="add mod ord">
          <ac:chgData name="Odunola Adewale" userId="7ef063c1585960a9" providerId="LiveId" clId="{AA16EEE7-8F2E-4765-92B3-03608672FD8E}" dt="2026-05-29T17:31:19.055" v="65" actId="1076"/>
          <ac:picMkLst>
            <pc:docMk/>
            <pc:sldMk cId="1895434571" sldId="260"/>
            <ac:picMk id="7" creationId="{30A70B60-A9E8-8E7A-4086-0C4F5BFE045D}"/>
          </ac:picMkLst>
        </pc:picChg>
      </pc:sldChg>
      <pc:sldChg chg="modSp mod">
        <pc:chgData name="Odunola Adewale" userId="7ef063c1585960a9" providerId="LiveId" clId="{AA16EEE7-8F2E-4765-92B3-03608672FD8E}" dt="2026-05-27T17:58:43.934" v="34" actId="255"/>
        <pc:sldMkLst>
          <pc:docMk/>
          <pc:sldMk cId="1915505079" sldId="261"/>
        </pc:sldMkLst>
        <pc:spChg chg="mod">
          <ac:chgData name="Odunola Adewale" userId="7ef063c1585960a9" providerId="LiveId" clId="{AA16EEE7-8F2E-4765-92B3-03608672FD8E}" dt="2026-05-27T17:57:11.526" v="27" actId="14100"/>
          <ac:spMkLst>
            <pc:docMk/>
            <pc:sldMk cId="1915505079" sldId="261"/>
            <ac:spMk id="4" creationId="{2D905BDF-7054-371A-3B01-555BD6CF13C8}"/>
          </ac:spMkLst>
        </pc:spChg>
        <pc:spChg chg="mod">
          <ac:chgData name="Odunola Adewale" userId="7ef063c1585960a9" providerId="LiveId" clId="{AA16EEE7-8F2E-4765-92B3-03608672FD8E}" dt="2026-05-27T17:58:43.934" v="34" actId="255"/>
          <ac:spMkLst>
            <pc:docMk/>
            <pc:sldMk cId="1915505079" sldId="261"/>
            <ac:spMk id="6" creationId="{D5E9420F-D5BF-85D2-2FDB-37664E045808}"/>
          </ac:spMkLst>
        </pc:spChg>
      </pc:sldChg>
      <pc:sldChg chg="modSp mod">
        <pc:chgData name="Odunola Adewale" userId="7ef063c1585960a9" providerId="LiveId" clId="{AA16EEE7-8F2E-4765-92B3-03608672FD8E}" dt="2026-05-27T17:57:27.595" v="28" actId="207"/>
        <pc:sldMkLst>
          <pc:docMk/>
          <pc:sldMk cId="3505891360" sldId="262"/>
        </pc:sldMkLst>
        <pc:spChg chg="mod">
          <ac:chgData name="Odunola Adewale" userId="7ef063c1585960a9" providerId="LiveId" clId="{AA16EEE7-8F2E-4765-92B3-03608672FD8E}" dt="2026-05-27T17:57:27.595" v="28" actId="207"/>
          <ac:spMkLst>
            <pc:docMk/>
            <pc:sldMk cId="3505891360" sldId="262"/>
            <ac:spMk id="2" creationId="{890D61AC-D553-FBA9-89EF-B3FC367A72EF}"/>
          </ac:spMkLst>
        </pc:spChg>
      </pc:sldChg>
      <pc:sldChg chg="modSp mod">
        <pc:chgData name="Odunola Adewale" userId="7ef063c1585960a9" providerId="LiveId" clId="{AA16EEE7-8F2E-4765-92B3-03608672FD8E}" dt="2026-05-27T17:57:48.050" v="30" actId="207"/>
        <pc:sldMkLst>
          <pc:docMk/>
          <pc:sldMk cId="719699522" sldId="263"/>
        </pc:sldMkLst>
        <pc:spChg chg="mod">
          <ac:chgData name="Odunola Adewale" userId="7ef063c1585960a9" providerId="LiveId" clId="{AA16EEE7-8F2E-4765-92B3-03608672FD8E}" dt="2026-05-27T17:57:48.050" v="30" actId="207"/>
          <ac:spMkLst>
            <pc:docMk/>
            <pc:sldMk cId="719699522" sldId="263"/>
            <ac:spMk id="2" creationId="{CC46B6C0-131E-2699-9D1B-3811D2937E70}"/>
          </ac:spMkLst>
        </pc:spChg>
      </pc:sldChg>
      <pc:sldChg chg="modSp mod">
        <pc:chgData name="Odunola Adewale" userId="7ef063c1585960a9" providerId="LiveId" clId="{AA16EEE7-8F2E-4765-92B3-03608672FD8E}" dt="2026-05-27T17:57:34.721" v="29" actId="207"/>
        <pc:sldMkLst>
          <pc:docMk/>
          <pc:sldMk cId="628207118" sldId="264"/>
        </pc:sldMkLst>
        <pc:spChg chg="mod">
          <ac:chgData name="Odunola Adewale" userId="7ef063c1585960a9" providerId="LiveId" clId="{AA16EEE7-8F2E-4765-92B3-03608672FD8E}" dt="2026-05-27T17:57:34.721" v="29" actId="207"/>
          <ac:spMkLst>
            <pc:docMk/>
            <pc:sldMk cId="628207118" sldId="264"/>
            <ac:spMk id="2" creationId="{477C2070-4455-D23B-B797-92816D092AD4}"/>
          </ac:spMkLst>
        </pc:spChg>
        <pc:spChg chg="mod">
          <ac:chgData name="Odunola Adewale" userId="7ef063c1585960a9" providerId="LiveId" clId="{AA16EEE7-8F2E-4765-92B3-03608672FD8E}" dt="2026-05-27T17:56:38.490" v="22"/>
          <ac:spMkLst>
            <pc:docMk/>
            <pc:sldMk cId="628207118" sldId="264"/>
            <ac:spMk id="4" creationId="{AA7DD225-4D47-9CCC-CA57-56DA56E74539}"/>
          </ac:spMkLst>
        </pc:spChg>
      </pc:sldChg>
      <pc:sldChg chg="modSp mod">
        <pc:chgData name="Odunola Adewale" userId="7ef063c1585960a9" providerId="LiveId" clId="{AA16EEE7-8F2E-4765-92B3-03608672FD8E}" dt="2026-05-27T17:58:24.245" v="33" actId="255"/>
        <pc:sldMkLst>
          <pc:docMk/>
          <pc:sldMk cId="2483930696" sldId="265"/>
        </pc:sldMkLst>
        <pc:spChg chg="mod">
          <ac:chgData name="Odunola Adewale" userId="7ef063c1585960a9" providerId="LiveId" clId="{AA16EEE7-8F2E-4765-92B3-03608672FD8E}" dt="2026-05-27T17:58:04.111" v="31" actId="207"/>
          <ac:spMkLst>
            <pc:docMk/>
            <pc:sldMk cId="2483930696" sldId="265"/>
            <ac:spMk id="2" creationId="{DF51FB46-62FB-3DEC-AFF1-00F6CBA2CF16}"/>
          </ac:spMkLst>
        </pc:spChg>
        <pc:spChg chg="mod">
          <ac:chgData name="Odunola Adewale" userId="7ef063c1585960a9" providerId="LiveId" clId="{AA16EEE7-8F2E-4765-92B3-03608672FD8E}" dt="2026-05-27T17:58:24.245" v="33" actId="255"/>
          <ac:spMkLst>
            <pc:docMk/>
            <pc:sldMk cId="2483930696" sldId="265"/>
            <ac:spMk id="4" creationId="{D2A753A8-1147-C485-F4B5-42E7CE9777E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3196703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2294967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1237886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1A6F6B-A9E8-48B9-BE73-D3B078FF42B8}" type="datetimeFigureOut">
              <a:rPr lang="en-US" smtClean="0"/>
              <a:t>26/05/29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188772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1A6F6B-A9E8-48B9-BE73-D3B078FF42B8}" type="datetimeFigureOut">
              <a:rPr lang="en-US" smtClean="0"/>
              <a:t>26/05/29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11262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2015050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2782461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206339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1A6F6B-A9E8-48B9-BE73-D3B078FF42B8}" type="datetimeFigureOut">
              <a:rPr lang="en-US" smtClean="0"/>
              <a:t>26/05/29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1326684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1A6F6B-A9E8-48B9-BE73-D3B078FF42B8}" type="datetimeFigureOut">
              <a:rPr lang="en-US" smtClean="0"/>
              <a:t>26/05/29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3193289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1154265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8909A-677E-44EF-8AD5-C281E39C316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904581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32063954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E1A6F6B-A9E8-48B9-BE73-D3B078FF42B8}" type="datetimeFigureOut">
              <a:rPr lang="en-US" smtClean="0"/>
              <a:t>26/05/29</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1937877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E1A6F6B-A9E8-48B9-BE73-D3B078FF42B8}" type="datetimeFigureOut">
              <a:rPr lang="en-US" smtClean="0"/>
              <a:t>26/05/29</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3878257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34302929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1A6F6B-A9E8-48B9-BE73-D3B078FF42B8}" type="datetimeFigureOut">
              <a:rPr lang="en-US" smtClean="0"/>
              <a:t>26/05/29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18909A-677E-44EF-8AD5-C281E39C3164}" type="slidenum">
              <a:rPr lang="en-US" smtClean="0"/>
              <a:t>‹#›</a:t>
            </a:fld>
            <a:endParaRPr lang="en-US"/>
          </a:p>
        </p:txBody>
      </p:sp>
    </p:spTree>
    <p:extLst>
      <p:ext uri="{BB962C8B-B14F-4D97-AF65-F5344CB8AC3E}">
        <p14:creationId xmlns:p14="http://schemas.microsoft.com/office/powerpoint/2010/main" val="1998377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E1A6F6B-A9E8-48B9-BE73-D3B078FF42B8}" type="datetimeFigureOut">
              <a:rPr lang="en-US" smtClean="0"/>
              <a:t>26/05/29</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818909A-677E-44EF-8AD5-C281E39C3164}" type="slidenum">
              <a:rPr lang="en-US" smtClean="0"/>
              <a:t>‹#›</a:t>
            </a:fld>
            <a:endParaRPr lang="en-US"/>
          </a:p>
        </p:txBody>
      </p:sp>
    </p:spTree>
    <p:extLst>
      <p:ext uri="{BB962C8B-B14F-4D97-AF65-F5344CB8AC3E}">
        <p14:creationId xmlns:p14="http://schemas.microsoft.com/office/powerpoint/2010/main" val="2033383556"/>
      </p:ext>
    </p:extLst>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nalystOdunola" TargetMode="External"/><Relationship Id="rId2" Type="http://schemas.openxmlformats.org/officeDocument/2006/relationships/hyperlink" Target="http://linkedin.com/in/odunola-adewale-52a4a8158"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AC5A2-B101-B17A-DF1B-29C7A548BC2A}"/>
              </a:ext>
            </a:extLst>
          </p:cNvPr>
          <p:cNvSpPr>
            <a:spLocks noGrp="1"/>
          </p:cNvSpPr>
          <p:nvPr>
            <p:ph type="ctrTitle"/>
          </p:nvPr>
        </p:nvSpPr>
        <p:spPr/>
        <p:txBody>
          <a:bodyPr>
            <a:normAutofit/>
          </a:bodyPr>
          <a:lstStyle/>
          <a:p>
            <a:r>
              <a:rPr lang="en-US" dirty="0">
                <a:solidFill>
                  <a:schemeClr val="tx1"/>
                </a:solidFill>
              </a:rPr>
              <a:t>SUPERSTORE SALES DATASET ANALYSIS</a:t>
            </a:r>
          </a:p>
        </p:txBody>
      </p:sp>
      <p:sp>
        <p:nvSpPr>
          <p:cNvPr id="3" name="Subtitle 2">
            <a:extLst>
              <a:ext uri="{FF2B5EF4-FFF2-40B4-BE49-F238E27FC236}">
                <a16:creationId xmlns:a16="http://schemas.microsoft.com/office/drawing/2014/main" id="{691E71E9-6E49-9FB9-02A0-261EA29F6B09}"/>
              </a:ext>
            </a:extLst>
          </p:cNvPr>
          <p:cNvSpPr>
            <a:spLocks noGrp="1"/>
          </p:cNvSpPr>
          <p:nvPr>
            <p:ph type="subTitle" idx="1"/>
          </p:nvPr>
        </p:nvSpPr>
        <p:spPr>
          <a:xfrm>
            <a:off x="1337187" y="4907756"/>
            <a:ext cx="9144000" cy="1655762"/>
          </a:xfrm>
        </p:spPr>
        <p:txBody>
          <a:bodyPr/>
          <a:lstStyle/>
          <a:p>
            <a:r>
              <a:rPr lang="en-US" b="1" i="1" dirty="0">
                <a:solidFill>
                  <a:schemeClr val="tx1"/>
                </a:solidFill>
              </a:rPr>
              <a:t>by Odunola Adewale</a:t>
            </a:r>
          </a:p>
          <a:p>
            <a:r>
              <a:rPr lang="en-US" b="1" i="1" dirty="0">
                <a:hlinkClick r:id="rId2"/>
              </a:rPr>
              <a:t>http://linkedin.com/in/odunola-adewale-52a4a8158</a:t>
            </a:r>
            <a:endParaRPr lang="en-US" b="1" i="1" dirty="0"/>
          </a:p>
          <a:p>
            <a:r>
              <a:rPr lang="en-US" dirty="0">
                <a:effectLst/>
                <a:hlinkClick r:id="rId3"/>
              </a:rPr>
              <a:t>https://github.com/AnalystOdunola</a:t>
            </a:r>
            <a:endParaRPr lang="en-US" dirty="0">
              <a:effectLst/>
            </a:endParaRPr>
          </a:p>
          <a:p>
            <a:endParaRPr lang="en-US" b="1" i="1" dirty="0"/>
          </a:p>
          <a:p>
            <a:endParaRPr lang="en-US" b="1" i="1" dirty="0"/>
          </a:p>
        </p:txBody>
      </p:sp>
    </p:spTree>
    <p:extLst>
      <p:ext uri="{BB962C8B-B14F-4D97-AF65-F5344CB8AC3E}">
        <p14:creationId xmlns:p14="http://schemas.microsoft.com/office/powerpoint/2010/main" val="4171268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FA2DC-968A-9F28-B314-B702A0176B39}"/>
              </a:ext>
            </a:extLst>
          </p:cNvPr>
          <p:cNvSpPr>
            <a:spLocks noGrp="1"/>
          </p:cNvSpPr>
          <p:nvPr>
            <p:ph type="title"/>
          </p:nvPr>
        </p:nvSpPr>
        <p:spPr/>
        <p:txBody>
          <a:bodyPr/>
          <a:lstStyle/>
          <a:p>
            <a:pPr algn="ctr"/>
            <a:r>
              <a:rPr lang="en-US" dirty="0">
                <a:solidFill>
                  <a:schemeClr val="tx1"/>
                </a:solidFill>
              </a:rPr>
              <a:t>DATASET OVERVIEW</a:t>
            </a:r>
          </a:p>
        </p:txBody>
      </p:sp>
      <p:sp>
        <p:nvSpPr>
          <p:cNvPr id="4" name="TextBox 3">
            <a:extLst>
              <a:ext uri="{FF2B5EF4-FFF2-40B4-BE49-F238E27FC236}">
                <a16:creationId xmlns:a16="http://schemas.microsoft.com/office/drawing/2014/main" id="{57E84EB8-0D3B-A4D4-959D-72E3892D2659}"/>
              </a:ext>
            </a:extLst>
          </p:cNvPr>
          <p:cNvSpPr txBox="1"/>
          <p:nvPr/>
        </p:nvSpPr>
        <p:spPr>
          <a:xfrm>
            <a:off x="838200" y="1723297"/>
            <a:ext cx="11107994" cy="4598438"/>
          </a:xfrm>
          <a:prstGeom prst="rect">
            <a:avLst/>
          </a:prstGeom>
          <a:noFill/>
        </p:spPr>
        <p:txBody>
          <a:bodyPr wrap="square">
            <a:spAutoFit/>
          </a:bodyPr>
          <a:lstStyle/>
          <a:p>
            <a:pPr>
              <a:lnSpc>
                <a:spcPct val="150000"/>
              </a:lnSpc>
            </a:pPr>
            <a:r>
              <a:rPr lang="en-US" sz="2200" dirty="0"/>
              <a:t>The analysis uses the Superstore Sales dataset covering retail transactions from 2014–2017 across the four major U.S. regions: Central, East, South and West. The dataset contains 5,009 orders from 793 customers and includes key business metrics such as sales, profit, discounts, quantity sold, and shipping modes. It also captures detailed product and customer information across multiple categories and sub-categories, making it suitable for sales performance and customer behavior analysis. Key dimensions in the dataset include Year, Region, Category, Sub-Category, Product Name, and Customer Name, which support trend analysis, segmentation, and profitability tracking. </a:t>
            </a:r>
          </a:p>
        </p:txBody>
      </p:sp>
    </p:spTree>
    <p:extLst>
      <p:ext uri="{BB962C8B-B14F-4D97-AF65-F5344CB8AC3E}">
        <p14:creationId xmlns:p14="http://schemas.microsoft.com/office/powerpoint/2010/main" val="2589922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5EFDE-8F86-B0C5-F915-51B1CAF73426}"/>
              </a:ext>
            </a:extLst>
          </p:cNvPr>
          <p:cNvSpPr>
            <a:spLocks noGrp="1"/>
          </p:cNvSpPr>
          <p:nvPr>
            <p:ph type="title"/>
          </p:nvPr>
        </p:nvSpPr>
        <p:spPr/>
        <p:txBody>
          <a:bodyPr/>
          <a:lstStyle/>
          <a:p>
            <a:pPr algn="ctr"/>
            <a:r>
              <a:rPr lang="en-US" dirty="0">
                <a:solidFill>
                  <a:schemeClr val="tx1"/>
                </a:solidFill>
              </a:rPr>
              <a:t>BUSINESS PROBLEM</a:t>
            </a:r>
          </a:p>
        </p:txBody>
      </p:sp>
      <p:sp>
        <p:nvSpPr>
          <p:cNvPr id="4" name="TextBox 3">
            <a:extLst>
              <a:ext uri="{FF2B5EF4-FFF2-40B4-BE49-F238E27FC236}">
                <a16:creationId xmlns:a16="http://schemas.microsoft.com/office/drawing/2014/main" id="{F884DA94-2BD5-F5AC-80F6-634839228318}"/>
              </a:ext>
            </a:extLst>
          </p:cNvPr>
          <p:cNvSpPr txBox="1"/>
          <p:nvPr/>
        </p:nvSpPr>
        <p:spPr>
          <a:xfrm>
            <a:off x="324465" y="1690689"/>
            <a:ext cx="11592232" cy="4247317"/>
          </a:xfrm>
          <a:prstGeom prst="rect">
            <a:avLst/>
          </a:prstGeom>
          <a:noFill/>
        </p:spPr>
        <p:txBody>
          <a:bodyPr wrap="square">
            <a:spAutoFit/>
          </a:bodyPr>
          <a:lstStyle/>
          <a:p>
            <a:pPr>
              <a:lnSpc>
                <a:spcPct val="150000"/>
              </a:lnSpc>
            </a:pPr>
            <a:r>
              <a:rPr lang="en-US" sz="2100" dirty="0"/>
              <a:t>The goal is to understand where the business is making and losing money. Specifically:</a:t>
            </a:r>
          </a:p>
          <a:p>
            <a:pPr marL="285750" indent="-285750">
              <a:lnSpc>
                <a:spcPct val="150000"/>
              </a:lnSpc>
              <a:buFont typeface="Arial" panose="020B0604020202020204" pitchFamily="34" charset="0"/>
              <a:buChar char="•"/>
            </a:pPr>
            <a:r>
              <a:rPr lang="en-US" sz="2100" dirty="0"/>
              <a:t>Which product categories and sub-categories generate the highest profit and losses.</a:t>
            </a:r>
          </a:p>
          <a:p>
            <a:pPr marL="285750" indent="-285750">
              <a:lnSpc>
                <a:spcPct val="150000"/>
              </a:lnSpc>
              <a:buFont typeface="Arial" panose="020B0604020202020204" pitchFamily="34" charset="0"/>
              <a:buChar char="•"/>
            </a:pPr>
            <a:r>
              <a:rPr lang="en-US" sz="2100" dirty="0"/>
              <a:t>Which regions contribute the most to overall sales and profitability.</a:t>
            </a:r>
          </a:p>
          <a:p>
            <a:pPr marL="285750" indent="-285750">
              <a:lnSpc>
                <a:spcPct val="150000"/>
              </a:lnSpc>
              <a:buFont typeface="Arial" panose="020B0604020202020204" pitchFamily="34" charset="0"/>
              <a:buChar char="•"/>
            </a:pPr>
            <a:r>
              <a:rPr lang="en-US" sz="2100" dirty="0"/>
              <a:t>Whether discount strategies are positively or negatively impacting profit margins. </a:t>
            </a:r>
          </a:p>
          <a:p>
            <a:pPr marL="285750" indent="-285750">
              <a:lnSpc>
                <a:spcPct val="150000"/>
              </a:lnSpc>
              <a:buFont typeface="Arial" panose="020B0604020202020204" pitchFamily="34" charset="0"/>
              <a:buChar char="•"/>
            </a:pPr>
            <a:r>
              <a:rPr lang="en-US" sz="2100" dirty="0"/>
              <a:t>Which customers and products drive the highest revenue performance. </a:t>
            </a:r>
          </a:p>
          <a:p>
            <a:pPr marL="285750" indent="-285750">
              <a:lnSpc>
                <a:spcPct val="150000"/>
              </a:lnSpc>
              <a:buFont typeface="Arial" panose="020B0604020202020204" pitchFamily="34" charset="0"/>
              <a:buChar char="•"/>
            </a:pPr>
            <a:r>
              <a:rPr lang="en-US" sz="2100" dirty="0"/>
              <a:t>Where the business should focus to improve profitability and operational efficiency. </a:t>
            </a:r>
          </a:p>
          <a:p>
            <a:pPr marL="285750" indent="-285750">
              <a:lnSpc>
                <a:spcPct val="150000"/>
              </a:lnSpc>
              <a:buFont typeface="Arial" panose="020B0604020202020204" pitchFamily="34" charset="0"/>
              <a:buChar char="•"/>
            </a:pPr>
            <a:r>
              <a:rPr lang="en-US" sz="2100" dirty="0"/>
              <a:t>How sales trends change over time across categories and regions. </a:t>
            </a:r>
          </a:p>
          <a:p>
            <a:pPr marL="285750" indent="-285750">
              <a:lnSpc>
                <a:spcPct val="150000"/>
              </a:lnSpc>
              <a:buFont typeface="Arial" panose="020B0604020202020204" pitchFamily="34" charset="0"/>
              <a:buChar char="•"/>
            </a:pPr>
            <a:r>
              <a:rPr lang="en-US" sz="2100" dirty="0"/>
              <a:t>What insights can support better strategic and data-driven decision-making</a:t>
            </a:r>
            <a:r>
              <a:rPr lang="en-US" sz="2000" dirty="0"/>
              <a:t>. </a:t>
            </a:r>
          </a:p>
          <a:p>
            <a:endParaRPr lang="en-US" dirty="0"/>
          </a:p>
        </p:txBody>
      </p:sp>
    </p:spTree>
    <p:extLst>
      <p:ext uri="{BB962C8B-B14F-4D97-AF65-F5344CB8AC3E}">
        <p14:creationId xmlns:p14="http://schemas.microsoft.com/office/powerpoint/2010/main" val="18983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2FA0E-7B24-54F8-4D61-75F7A70D5A54}"/>
              </a:ext>
            </a:extLst>
          </p:cNvPr>
          <p:cNvSpPr>
            <a:spLocks noGrp="1"/>
          </p:cNvSpPr>
          <p:nvPr>
            <p:ph type="title"/>
          </p:nvPr>
        </p:nvSpPr>
        <p:spPr/>
        <p:txBody>
          <a:bodyPr/>
          <a:lstStyle/>
          <a:p>
            <a:pPr algn="ctr"/>
            <a:r>
              <a:rPr lang="en-US" dirty="0">
                <a:solidFill>
                  <a:schemeClr val="tx1"/>
                </a:solidFill>
              </a:rPr>
              <a:t>KPIs DEFINED</a:t>
            </a:r>
          </a:p>
        </p:txBody>
      </p:sp>
      <p:sp>
        <p:nvSpPr>
          <p:cNvPr id="3" name="Rectangle 1">
            <a:extLst>
              <a:ext uri="{FF2B5EF4-FFF2-40B4-BE49-F238E27FC236}">
                <a16:creationId xmlns:a16="http://schemas.microsoft.com/office/drawing/2014/main" id="{32414D0F-93A7-BC9C-769E-15D8FBE514F8}"/>
              </a:ext>
            </a:extLst>
          </p:cNvPr>
          <p:cNvSpPr>
            <a:spLocks noChangeArrowheads="1"/>
          </p:cNvSpPr>
          <p:nvPr/>
        </p:nvSpPr>
        <p:spPr bwMode="auto">
          <a:xfrm rot="10800000" flipV="1">
            <a:off x="838198" y="1900468"/>
            <a:ext cx="10515598" cy="4536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Total Sales:</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$2.30M </a:t>
            </a:r>
            <a:r>
              <a:rPr kumimoji="0" lang="en-US" altLang="en-US" sz="2800" b="0" i="0" u="none" strike="noStrike" cap="none" normalizeH="0" baseline="0" dirty="0">
                <a:ln>
                  <a:noFill/>
                </a:ln>
                <a:solidFill>
                  <a:schemeClr val="tx1"/>
                </a:solidFill>
                <a:effectLst/>
                <a:latin typeface="Arial" panose="020B0604020202020204" pitchFamily="34" charset="0"/>
              </a:rPr>
              <a:t>generated across all transactions.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Total Profit:</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$286.40K </a:t>
            </a:r>
            <a:r>
              <a:rPr kumimoji="0" lang="en-US" altLang="en-US" sz="2800" b="0" i="0" u="none" strike="noStrike" cap="none" normalizeH="0" baseline="0" dirty="0">
                <a:ln>
                  <a:noFill/>
                </a:ln>
                <a:solidFill>
                  <a:schemeClr val="tx1"/>
                </a:solidFill>
                <a:effectLst/>
                <a:latin typeface="Arial" panose="020B0604020202020204" pitchFamily="34" charset="0"/>
              </a:rPr>
              <a:t>earned after discounts and operational costs.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Profit Margin:</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12.47% </a:t>
            </a:r>
            <a:r>
              <a:rPr lang="en-US" altLang="en-US" sz="2800" dirty="0">
                <a:latin typeface="Arial" panose="020B0604020202020204" pitchFamily="34" charset="0"/>
              </a:rPr>
              <a:t>profit as a % of</a:t>
            </a:r>
            <a:r>
              <a:rPr kumimoji="0" lang="en-US" altLang="en-US" sz="2800" b="0" i="0" u="none" strike="noStrike" cap="none" normalizeH="0" baseline="0" dirty="0">
                <a:ln>
                  <a:noFill/>
                </a:ln>
                <a:solidFill>
                  <a:schemeClr val="tx1"/>
                </a:solidFill>
                <a:effectLst/>
                <a:latin typeface="Arial" panose="020B0604020202020204" pitchFamily="34" charset="0"/>
              </a:rPr>
              <a:t> sales.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Total Customers:</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793 </a:t>
            </a:r>
            <a:r>
              <a:rPr kumimoji="0" lang="en-US" altLang="en-US" sz="2800" b="0" i="0" u="none" strike="noStrike" cap="none" normalizeH="0" baseline="0" dirty="0">
                <a:ln>
                  <a:noFill/>
                </a:ln>
                <a:solidFill>
                  <a:schemeClr val="tx1"/>
                </a:solidFill>
                <a:effectLst/>
                <a:latin typeface="Arial" panose="020B0604020202020204" pitchFamily="34" charset="0"/>
              </a:rPr>
              <a:t>unique customers recorded in the dataset.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Total Orders:</a:t>
            </a:r>
            <a:r>
              <a:rPr kumimoji="0" lang="en-US" altLang="en-US" sz="2800" b="0" i="0" u="none" strike="noStrike" cap="none" normalizeH="0" baseline="0" dirty="0">
                <a:ln>
                  <a:noFill/>
                </a:ln>
                <a:solidFill>
                  <a:schemeClr val="tx1"/>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rPr>
              <a:t>5,009</a:t>
            </a:r>
            <a:r>
              <a:rPr kumimoji="0" lang="en-US" altLang="en-US" sz="2800" b="0" i="0" u="none" strike="noStrike" cap="none" normalizeH="0" baseline="0" dirty="0">
                <a:ln>
                  <a:noFill/>
                </a:ln>
                <a:solidFill>
                  <a:schemeClr val="tx1"/>
                </a:solidFill>
                <a:effectLst/>
                <a:latin typeface="Arial" panose="020B0604020202020204" pitchFamily="34" charset="0"/>
              </a:rPr>
              <a:t> completed customer orders. </a:t>
            </a:r>
          </a:p>
        </p:txBody>
      </p:sp>
    </p:spTree>
    <p:extLst>
      <p:ext uri="{BB962C8B-B14F-4D97-AF65-F5344CB8AC3E}">
        <p14:creationId xmlns:p14="http://schemas.microsoft.com/office/powerpoint/2010/main" val="2431218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AF185-62B6-5CFE-B558-04E0E4B8B392}"/>
              </a:ext>
            </a:extLst>
          </p:cNvPr>
          <p:cNvSpPr>
            <a:spLocks noGrp="1"/>
          </p:cNvSpPr>
          <p:nvPr>
            <p:ph type="title"/>
          </p:nvPr>
        </p:nvSpPr>
        <p:spPr>
          <a:xfrm>
            <a:off x="921415" y="442885"/>
            <a:ext cx="9404723" cy="1022121"/>
          </a:xfrm>
        </p:spPr>
        <p:txBody>
          <a:bodyPr/>
          <a:lstStyle/>
          <a:p>
            <a:pPr algn="ctr"/>
            <a:r>
              <a:rPr lang="en-US" dirty="0">
                <a:solidFill>
                  <a:schemeClr val="tx1"/>
                </a:solidFill>
              </a:rPr>
              <a:t>DASHBOARD SCREENSHOT</a:t>
            </a:r>
          </a:p>
        </p:txBody>
      </p:sp>
      <p:pic>
        <p:nvPicPr>
          <p:cNvPr id="7" name="Content Placeholder 6">
            <a:extLst>
              <a:ext uri="{FF2B5EF4-FFF2-40B4-BE49-F238E27FC236}">
                <a16:creationId xmlns:a16="http://schemas.microsoft.com/office/drawing/2014/main" id="{30A70B60-A9E8-8E7A-4086-0C4F5BFE04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1415" y="1612056"/>
            <a:ext cx="9925162" cy="4803059"/>
          </a:xfrm>
          <a:prstGeom prst="rect">
            <a:avLst/>
          </a:prstGeom>
        </p:spPr>
      </p:pic>
    </p:spTree>
    <p:extLst>
      <p:ext uri="{BB962C8B-B14F-4D97-AF65-F5344CB8AC3E}">
        <p14:creationId xmlns:p14="http://schemas.microsoft.com/office/powerpoint/2010/main" val="1895434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905BDF-7054-371A-3B01-555BD6CF13C8}"/>
              </a:ext>
            </a:extLst>
          </p:cNvPr>
          <p:cNvSpPr>
            <a:spLocks noGrp="1"/>
          </p:cNvSpPr>
          <p:nvPr>
            <p:ph type="title"/>
          </p:nvPr>
        </p:nvSpPr>
        <p:spPr>
          <a:xfrm>
            <a:off x="838200" y="365126"/>
            <a:ext cx="10515600" cy="745920"/>
          </a:xfrm>
        </p:spPr>
        <p:txBody>
          <a:bodyPr/>
          <a:lstStyle/>
          <a:p>
            <a:pPr algn="ctr"/>
            <a:r>
              <a:rPr lang="en-US" dirty="0">
                <a:solidFill>
                  <a:schemeClr val="tx1"/>
                </a:solidFill>
              </a:rPr>
              <a:t>KEY INSIGHTS DISCOVERED</a:t>
            </a:r>
          </a:p>
        </p:txBody>
      </p:sp>
      <p:sp>
        <p:nvSpPr>
          <p:cNvPr id="6" name="TextBox 5">
            <a:extLst>
              <a:ext uri="{FF2B5EF4-FFF2-40B4-BE49-F238E27FC236}">
                <a16:creationId xmlns:a16="http://schemas.microsoft.com/office/drawing/2014/main" id="{D5E9420F-D5BF-85D2-2FDB-37664E045808}"/>
              </a:ext>
            </a:extLst>
          </p:cNvPr>
          <p:cNvSpPr txBox="1"/>
          <p:nvPr/>
        </p:nvSpPr>
        <p:spPr>
          <a:xfrm>
            <a:off x="1297858" y="1326895"/>
            <a:ext cx="10055942" cy="555658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700" b="1" u="sng" dirty="0"/>
              <a:t>Category Performance: </a:t>
            </a:r>
            <a:r>
              <a:rPr lang="en-US" sz="1700" dirty="0"/>
              <a:t>Technology generates the highest profit at $142K with only a 1% avg discount. Furniture is underperforming with $40K profit despite $0.74M in sales, and has the highest discount at 19%.</a:t>
            </a:r>
          </a:p>
          <a:p>
            <a:pPr marL="285750" indent="-285750">
              <a:lnSpc>
                <a:spcPct val="150000"/>
              </a:lnSpc>
              <a:buFont typeface="Arial" panose="020B0604020202020204" pitchFamily="34" charset="0"/>
              <a:buChar char="•"/>
            </a:pPr>
            <a:r>
              <a:rPr lang="en-US" sz="1700" b="1" u="sng" dirty="0"/>
              <a:t>Discount Impact: </a:t>
            </a:r>
            <a:r>
              <a:rPr lang="en-US" sz="1700" dirty="0"/>
              <a:t>Higher discounts correlate with lower profit margins. Office Supplies sits in the middle at 15% discount and $111K profit.</a:t>
            </a:r>
          </a:p>
          <a:p>
            <a:pPr marL="285750" indent="-285750">
              <a:lnSpc>
                <a:spcPct val="150000"/>
              </a:lnSpc>
              <a:buFont typeface="Arial" panose="020B0604020202020204" pitchFamily="34" charset="0"/>
              <a:buChar char="•"/>
            </a:pPr>
            <a:r>
              <a:rPr lang="en-US" sz="1700" b="1" u="sng" dirty="0"/>
              <a:t>Geographic Issue: </a:t>
            </a:r>
            <a:r>
              <a:rPr lang="en-US" sz="1700" dirty="0"/>
              <a:t>Most U.S. states show negative or low profit margins on the map. Only California and a few West Coast states are profitable. This suggests shipping costs, pricing, or discounting issues in the Central/East/South regions.</a:t>
            </a:r>
          </a:p>
          <a:p>
            <a:pPr marL="285750" indent="-285750">
              <a:lnSpc>
                <a:spcPct val="150000"/>
              </a:lnSpc>
              <a:buFont typeface="Arial" panose="020B0604020202020204" pitchFamily="34" charset="0"/>
              <a:buChar char="•"/>
            </a:pPr>
            <a:r>
              <a:rPr lang="en-US" sz="1700" b="1" u="sng" dirty="0"/>
              <a:t>Sales Trend: </a:t>
            </a:r>
            <a:r>
              <a:rPr lang="en-US" sz="1700" dirty="0"/>
              <a:t>Sales grew steadily from $470.5K in 2015 to $733.2K in 2017 after a dip in 2015.</a:t>
            </a:r>
          </a:p>
          <a:p>
            <a:pPr marL="285750" indent="-285750">
              <a:lnSpc>
                <a:spcPct val="150000"/>
              </a:lnSpc>
              <a:buFont typeface="Arial" panose="020B0604020202020204" pitchFamily="34" charset="0"/>
              <a:buChar char="•"/>
            </a:pPr>
            <a:r>
              <a:rPr lang="en-US" sz="1700" b="1" u="sng" dirty="0"/>
              <a:t>Shipping: </a:t>
            </a:r>
            <a:r>
              <a:rPr lang="en-US" sz="1700" dirty="0"/>
              <a:t>Standard Class dominates at 59.12% of orders, indicating customers prioritize cost over speed.</a:t>
            </a:r>
          </a:p>
          <a:p>
            <a:pPr marL="285750" indent="-285750">
              <a:lnSpc>
                <a:spcPct val="150000"/>
              </a:lnSpc>
              <a:buFont typeface="Arial" panose="020B0604020202020204" pitchFamily="34" charset="0"/>
              <a:buChar char="•"/>
            </a:pPr>
            <a:r>
              <a:rPr lang="en-US" sz="1700" b="1" u="sng" dirty="0"/>
              <a:t>Top Customers: </a:t>
            </a:r>
            <a:r>
              <a:rPr lang="en-US" sz="1700" dirty="0"/>
              <a:t>Sean Miller and Tamara Chand are the top 2 customers, contributing $44K combined. Retention of high-value customers is critical.</a:t>
            </a:r>
          </a:p>
          <a:p>
            <a:pPr>
              <a:lnSpc>
                <a:spcPct val="150000"/>
              </a:lnSpc>
            </a:pPr>
            <a:endParaRPr lang="en-US" dirty="0"/>
          </a:p>
        </p:txBody>
      </p:sp>
    </p:spTree>
    <p:extLst>
      <p:ext uri="{BB962C8B-B14F-4D97-AF65-F5344CB8AC3E}">
        <p14:creationId xmlns:p14="http://schemas.microsoft.com/office/powerpoint/2010/main" val="1915505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D61AC-D553-FBA9-89EF-B3FC367A72EF}"/>
              </a:ext>
            </a:extLst>
          </p:cNvPr>
          <p:cNvSpPr>
            <a:spLocks noGrp="1"/>
          </p:cNvSpPr>
          <p:nvPr>
            <p:ph type="title"/>
          </p:nvPr>
        </p:nvSpPr>
        <p:spPr/>
        <p:txBody>
          <a:bodyPr/>
          <a:lstStyle/>
          <a:p>
            <a:pPr algn="ctr"/>
            <a:r>
              <a:rPr lang="en-US" dirty="0">
                <a:solidFill>
                  <a:schemeClr val="tx1"/>
                </a:solidFill>
              </a:rPr>
              <a:t>RECOMMENDATIONS</a:t>
            </a:r>
          </a:p>
        </p:txBody>
      </p:sp>
      <p:sp>
        <p:nvSpPr>
          <p:cNvPr id="3" name="Rectangle 1">
            <a:extLst>
              <a:ext uri="{FF2B5EF4-FFF2-40B4-BE49-F238E27FC236}">
                <a16:creationId xmlns:a16="http://schemas.microsoft.com/office/drawing/2014/main" id="{8D18CCE7-52A1-7DE3-3FD6-070C74D03F58}"/>
              </a:ext>
            </a:extLst>
          </p:cNvPr>
          <p:cNvSpPr>
            <a:spLocks noChangeArrowheads="1"/>
          </p:cNvSpPr>
          <p:nvPr/>
        </p:nvSpPr>
        <p:spPr bwMode="auto">
          <a:xfrm rot="10800000" flipV="1">
            <a:off x="1055984" y="1625124"/>
            <a:ext cx="10080031" cy="4190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Focus more on high-performing categories such as </a:t>
            </a:r>
            <a:r>
              <a:rPr kumimoji="0" lang="en-US" altLang="en-US" sz="2000" b="1" i="0" u="none" strike="noStrike" cap="none" normalizeH="0" baseline="0" dirty="0">
                <a:ln>
                  <a:noFill/>
                </a:ln>
                <a:solidFill>
                  <a:schemeClr val="tx1"/>
                </a:solidFill>
                <a:effectLst/>
                <a:latin typeface="Arial" panose="020B0604020202020204" pitchFamily="34" charset="0"/>
              </a:rPr>
              <a:t>technology</a:t>
            </a:r>
            <a:r>
              <a:rPr kumimoji="0" lang="en-US" altLang="en-US" sz="2000" b="0" i="0" u="none" strike="noStrike" cap="none" normalizeH="0" baseline="0" dirty="0">
                <a:ln>
                  <a:noFill/>
                </a:ln>
                <a:solidFill>
                  <a:schemeClr val="tx1"/>
                </a:solidFill>
                <a:effectLst/>
                <a:latin typeface="Arial" panose="020B0604020202020204" pitchFamily="34" charset="0"/>
              </a:rPr>
              <a:t> to maximize revenue growth and profitability.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Review discount strategies on heavily discounted products such as </a:t>
            </a:r>
            <a:r>
              <a:rPr lang="en-US" altLang="en-US" sz="2000" b="1" dirty="0">
                <a:latin typeface="Arial" panose="020B0604020202020204" pitchFamily="34" charset="0"/>
              </a:rPr>
              <a:t>t</a:t>
            </a:r>
            <a:r>
              <a:rPr kumimoji="0" lang="en-US" altLang="en-US" sz="2000" b="1" i="0" u="none" strike="noStrike" cap="none" normalizeH="0" baseline="0" dirty="0">
                <a:ln>
                  <a:noFill/>
                </a:ln>
                <a:solidFill>
                  <a:schemeClr val="tx1"/>
                </a:solidFill>
                <a:effectLst/>
                <a:latin typeface="Arial" panose="020B0604020202020204" pitchFamily="34" charset="0"/>
              </a:rPr>
              <a:t>ables, bookcases, and machines</a:t>
            </a:r>
            <a:r>
              <a:rPr kumimoji="0" lang="en-US" altLang="en-US" sz="2000" b="0" i="0" u="none" strike="noStrike" cap="none" normalizeH="0" baseline="0" dirty="0">
                <a:ln>
                  <a:noFill/>
                </a:ln>
                <a:solidFill>
                  <a:schemeClr val="tx1"/>
                </a:solidFill>
                <a:effectLst/>
                <a:latin typeface="Arial" panose="020B0604020202020204" pitchFamily="34" charset="0"/>
              </a:rPr>
              <a:t>, as high discounts are reducing overall profit margins.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Improve sales performance in lower-performing regions such as the </a:t>
            </a:r>
            <a:r>
              <a:rPr kumimoji="0" lang="en-US" altLang="en-US" sz="2000" b="1" i="0" u="none" strike="noStrike" cap="none" normalizeH="0" baseline="0" dirty="0">
                <a:ln>
                  <a:noFill/>
                </a:ln>
                <a:solidFill>
                  <a:schemeClr val="tx1"/>
                </a:solidFill>
                <a:effectLst/>
                <a:latin typeface="Arial" panose="020B0604020202020204" pitchFamily="34" charset="0"/>
              </a:rPr>
              <a:t>South Region (Texas, Florida, and North Carolina)</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Central Region (Illinois and Ohio)</a:t>
            </a:r>
            <a:r>
              <a:rPr kumimoji="0" lang="en-US" altLang="en-US" sz="2000" b="0" i="0" u="none" strike="noStrike" cap="none" normalizeH="0" baseline="0" dirty="0">
                <a:ln>
                  <a:noFill/>
                </a:ln>
                <a:solidFill>
                  <a:schemeClr val="tx1"/>
                </a:solidFill>
                <a:effectLst/>
                <a:latin typeface="Arial" panose="020B0604020202020204" pitchFamily="34" charset="0"/>
              </a:rPr>
              <a:t> through targeted marketing and operational improvements.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Strengthen customer retention programs for high-value customers contributing significantly to total sales revenue. </a:t>
            </a:r>
          </a:p>
        </p:txBody>
      </p:sp>
    </p:spTree>
    <p:extLst>
      <p:ext uri="{BB962C8B-B14F-4D97-AF65-F5344CB8AC3E}">
        <p14:creationId xmlns:p14="http://schemas.microsoft.com/office/powerpoint/2010/main" val="3505891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C2070-4455-D23B-B797-92816D092AD4}"/>
              </a:ext>
            </a:extLst>
          </p:cNvPr>
          <p:cNvSpPr>
            <a:spLocks noGrp="1"/>
          </p:cNvSpPr>
          <p:nvPr>
            <p:ph type="title"/>
          </p:nvPr>
        </p:nvSpPr>
        <p:spPr/>
        <p:txBody>
          <a:bodyPr/>
          <a:lstStyle/>
          <a:p>
            <a:pPr algn="ctr"/>
            <a:r>
              <a:rPr lang="en-US" dirty="0">
                <a:solidFill>
                  <a:schemeClr val="tx1"/>
                </a:solidFill>
              </a:rPr>
              <a:t>RECOMMENDATIONS CONTD.</a:t>
            </a:r>
          </a:p>
        </p:txBody>
      </p:sp>
      <p:sp>
        <p:nvSpPr>
          <p:cNvPr id="4" name="TextBox 3">
            <a:extLst>
              <a:ext uri="{FF2B5EF4-FFF2-40B4-BE49-F238E27FC236}">
                <a16:creationId xmlns:a16="http://schemas.microsoft.com/office/drawing/2014/main" id="{AA7DD225-4D47-9CCC-CA57-56DA56E74539}"/>
              </a:ext>
            </a:extLst>
          </p:cNvPr>
          <p:cNvSpPr txBox="1"/>
          <p:nvPr/>
        </p:nvSpPr>
        <p:spPr>
          <a:xfrm>
            <a:off x="660400" y="1954238"/>
            <a:ext cx="10693400" cy="2118529"/>
          </a:xfrm>
          <a:prstGeom prst="rect">
            <a:avLst/>
          </a:prstGeom>
          <a:noFill/>
        </p:spPr>
        <p:txBody>
          <a:bodyPr wrap="square">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Monitor yearly sales trends and seasonal demand patterns to improve forecasting and inventory planning.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Optimize pricing and discount policies to balance revenue growth with sustainable profitability. </a:t>
            </a:r>
          </a:p>
          <a:p>
            <a:pPr marL="285750" lvl="0" indent="-285750" eaLnBrk="0" fontAlgn="base" hangingPunct="0">
              <a:lnSpc>
                <a:spcPct val="150000"/>
              </a:lnSpc>
              <a:spcBef>
                <a:spcPct val="0"/>
              </a:spcBef>
              <a:spcAft>
                <a:spcPct val="0"/>
              </a:spcAft>
              <a:buFont typeface="Arial" panose="020B0604020202020204" pitchFamily="34" charset="0"/>
              <a:buChar char="•"/>
            </a:pPr>
            <a:r>
              <a:rPr lang="en-US" altLang="en-US" sz="1800" dirty="0">
                <a:latin typeface="Arial" panose="020B0604020202020204" pitchFamily="34" charset="0"/>
              </a:rPr>
              <a:t>Promote Standard Class. Since 59% of customers choose it, optimize logistics for this shipping mode to reduce costs.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8207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6B6C0-131E-2699-9D1B-3811D2937E70}"/>
              </a:ext>
            </a:extLst>
          </p:cNvPr>
          <p:cNvSpPr>
            <a:spLocks noGrp="1"/>
          </p:cNvSpPr>
          <p:nvPr>
            <p:ph type="title"/>
          </p:nvPr>
        </p:nvSpPr>
        <p:spPr>
          <a:xfrm>
            <a:off x="838200" y="365125"/>
            <a:ext cx="10515600" cy="884555"/>
          </a:xfrm>
        </p:spPr>
        <p:txBody>
          <a:bodyPr/>
          <a:lstStyle/>
          <a:p>
            <a:pPr algn="ctr"/>
            <a:r>
              <a:rPr lang="en-US" dirty="0">
                <a:solidFill>
                  <a:schemeClr val="tx1"/>
                </a:solidFill>
              </a:rPr>
              <a:t>CHALLENGES FACED</a:t>
            </a:r>
          </a:p>
        </p:txBody>
      </p:sp>
      <p:sp>
        <p:nvSpPr>
          <p:cNvPr id="3" name="Rectangle 1">
            <a:extLst>
              <a:ext uri="{FF2B5EF4-FFF2-40B4-BE49-F238E27FC236}">
                <a16:creationId xmlns:a16="http://schemas.microsoft.com/office/drawing/2014/main" id="{A8173BA5-0188-D4D5-1563-C823759B12B1}"/>
              </a:ext>
            </a:extLst>
          </p:cNvPr>
          <p:cNvSpPr>
            <a:spLocks noChangeArrowheads="1"/>
          </p:cNvSpPr>
          <p:nvPr/>
        </p:nvSpPr>
        <p:spPr bwMode="auto">
          <a:xfrm rot="10800000" flipV="1">
            <a:off x="558800" y="995352"/>
            <a:ext cx="11308080" cy="5390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Initial confusion on whether the </a:t>
            </a:r>
            <a:r>
              <a:rPr lang="en-US" altLang="en-US" sz="2000" b="1" dirty="0">
                <a:latin typeface="Arial" panose="020B0604020202020204" pitchFamily="34" charset="0"/>
              </a:rPr>
              <a:t>d</a:t>
            </a:r>
            <a:r>
              <a:rPr kumimoji="0" lang="en-US" altLang="en-US" sz="2000" b="1" i="0" u="none" strike="noStrike" cap="none" normalizeH="0" baseline="0" dirty="0">
                <a:ln>
                  <a:noFill/>
                </a:ln>
                <a:solidFill>
                  <a:schemeClr val="tx1"/>
                </a:solidFill>
                <a:effectLst/>
                <a:latin typeface="Arial" panose="020B0604020202020204" pitchFamily="34" charset="0"/>
              </a:rPr>
              <a:t>iscount</a:t>
            </a:r>
            <a:r>
              <a:rPr kumimoji="0" lang="en-US" altLang="en-US" sz="2000" b="0" i="0" u="none" strike="noStrike" cap="none" normalizeH="0" baseline="0" dirty="0">
                <a:ln>
                  <a:noFill/>
                </a:ln>
                <a:solidFill>
                  <a:schemeClr val="tx1"/>
                </a:solidFill>
                <a:effectLst/>
                <a:latin typeface="Arial" panose="020B0604020202020204" pitchFamily="34" charset="0"/>
              </a:rPr>
              <a:t> field was stored as a decimal or percentage, which caused formatting and interpretation issues during analysis.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Handling inconsistent formatting and ensuring data fields displayed correctly across visuals and calculations.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Learning and implementing </a:t>
            </a:r>
            <a:r>
              <a:rPr kumimoji="0" lang="en-US" altLang="en-US" sz="2000" b="1" i="0" u="none" strike="noStrike" cap="none" normalizeH="0" baseline="0" dirty="0">
                <a:ln>
                  <a:noFill/>
                </a:ln>
                <a:solidFill>
                  <a:schemeClr val="tx1"/>
                </a:solidFill>
                <a:effectLst/>
                <a:latin typeface="Arial" panose="020B0604020202020204" pitchFamily="34" charset="0"/>
              </a:rPr>
              <a:t>drill-down functionality</a:t>
            </a:r>
            <a:r>
              <a:rPr kumimoji="0" lang="en-US" altLang="en-US" sz="2000" b="0" i="0" u="none" strike="noStrike" cap="none" normalizeH="0" baseline="0" dirty="0">
                <a:ln>
                  <a:noFill/>
                </a:ln>
                <a:solidFill>
                  <a:schemeClr val="tx1"/>
                </a:solidFill>
                <a:effectLst/>
                <a:latin typeface="Arial" panose="020B0604020202020204" pitchFamily="34" charset="0"/>
              </a:rPr>
              <a:t> for the first time while ensuring it worked properly across visuals and hierarchy levels.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Selecting the most effective calculations and measures to compare sales, profit, discounts, and regional performance.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Balancing KPI calculations and supporting visuals to communicate insights clearly without overcrowding the dashboard.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Optimizing the map visualization to reduce clutter and improve color readability. </a:t>
            </a:r>
          </a:p>
        </p:txBody>
      </p:sp>
    </p:spTree>
    <p:extLst>
      <p:ext uri="{BB962C8B-B14F-4D97-AF65-F5344CB8AC3E}">
        <p14:creationId xmlns:p14="http://schemas.microsoft.com/office/powerpoint/2010/main" val="719699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1FB46-62FB-3DEC-AFF1-00F6CBA2CF16}"/>
              </a:ext>
            </a:extLst>
          </p:cNvPr>
          <p:cNvSpPr>
            <a:spLocks noGrp="1"/>
          </p:cNvSpPr>
          <p:nvPr>
            <p:ph type="title"/>
          </p:nvPr>
        </p:nvSpPr>
        <p:spPr>
          <a:xfrm>
            <a:off x="838200" y="365126"/>
            <a:ext cx="10515600" cy="903236"/>
          </a:xfrm>
        </p:spPr>
        <p:txBody>
          <a:bodyPr/>
          <a:lstStyle/>
          <a:p>
            <a:pPr algn="ctr"/>
            <a:r>
              <a:rPr lang="en-US" dirty="0">
                <a:solidFill>
                  <a:schemeClr val="tx1"/>
                </a:solidFill>
              </a:rPr>
              <a:t>CONCLUSION</a:t>
            </a:r>
          </a:p>
        </p:txBody>
      </p:sp>
      <p:sp>
        <p:nvSpPr>
          <p:cNvPr id="4" name="TextBox 3">
            <a:extLst>
              <a:ext uri="{FF2B5EF4-FFF2-40B4-BE49-F238E27FC236}">
                <a16:creationId xmlns:a16="http://schemas.microsoft.com/office/drawing/2014/main" id="{D2A753A8-1147-C485-F4B5-42E7CE9777E5}"/>
              </a:ext>
            </a:extLst>
          </p:cNvPr>
          <p:cNvSpPr txBox="1"/>
          <p:nvPr/>
        </p:nvSpPr>
        <p:spPr>
          <a:xfrm>
            <a:off x="768145" y="1268362"/>
            <a:ext cx="10655710" cy="4861139"/>
          </a:xfrm>
          <a:prstGeom prst="rect">
            <a:avLst/>
          </a:prstGeom>
          <a:noFill/>
        </p:spPr>
        <p:txBody>
          <a:bodyPr wrap="square">
            <a:spAutoFit/>
          </a:bodyPr>
          <a:lstStyle/>
          <a:p>
            <a:pPr>
              <a:lnSpc>
                <a:spcPct val="150000"/>
              </a:lnSpc>
              <a:buNone/>
            </a:pPr>
            <a:r>
              <a:rPr lang="en-US" sz="1900" dirty="0"/>
              <a:t>The analysis shows that the business is experiencing steady sales growth, but profitability remains a challenge outside the West region. Technology continues to be the strongest-performing category, while Furniture records weaker profit performance largely due to aggressive discounting strategies. Regional analysis also highlights areas where pricing and sales strategies need improvement to sustain long-term profitability.</a:t>
            </a:r>
          </a:p>
          <a:p>
            <a:pPr>
              <a:lnSpc>
                <a:spcPct val="150000"/>
              </a:lnSpc>
              <a:buNone/>
            </a:pPr>
            <a:r>
              <a:rPr lang="en-US" sz="1900" dirty="0"/>
              <a:t>By optimizing discount policies, improving regional pricing strategies, and focusing on high-performing products and customers, the company can improve profit margins without significantly affecting sales volume. The dashboard successfully transforms raw transactional data into clear and actionable insights, providing management with a fast and interactive way to monitor performance, identify problem areas, and support data-driven decision-making.</a:t>
            </a:r>
          </a:p>
        </p:txBody>
      </p:sp>
    </p:spTree>
    <p:extLst>
      <p:ext uri="{BB962C8B-B14F-4D97-AF65-F5344CB8AC3E}">
        <p14:creationId xmlns:p14="http://schemas.microsoft.com/office/powerpoint/2010/main" val="24839306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69</TotalTime>
  <Words>850</Words>
  <Application>Microsoft Office PowerPoint</Application>
  <PresentationFormat>Widescreen</PresentationFormat>
  <Paragraphs>49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Ion</vt:lpstr>
      <vt:lpstr>SUPERSTORE SALES DATASET ANALYSIS</vt:lpstr>
      <vt:lpstr>DATASET OVERVIEW</vt:lpstr>
      <vt:lpstr>BUSINESS PROBLEM</vt:lpstr>
      <vt:lpstr>KPIs DEFINED</vt:lpstr>
      <vt:lpstr>DASHBOARD SCREENSHOT</vt:lpstr>
      <vt:lpstr>KEY INSIGHTS DISCOVERED</vt:lpstr>
      <vt:lpstr>RECOMMENDATIONS</vt:lpstr>
      <vt:lpstr>RECOMMENDATIONS CONTD.</vt:lpstr>
      <vt:lpstr>CHALLENGES FACED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Odunola Adewale</dc:creator>
  <cp:lastModifiedBy>Odunola Adewale</cp:lastModifiedBy>
  <cp:revision>1</cp:revision>
  <dcterms:created xsi:type="dcterms:W3CDTF">2026-05-27T16:58:27Z</dcterms:created>
  <dcterms:modified xsi:type="dcterms:W3CDTF">2026-05-29T17:31:25Z</dcterms:modified>
</cp:coreProperties>
</file>